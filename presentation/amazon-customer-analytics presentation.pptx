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Helvetica World" panose="020B0604020202020204" charset="-128"/>
      <p:regular r:id="rId24"/>
    </p:embeddedFont>
    <p:embeddedFont>
      <p:font typeface="Helvetica World Bold" panose="020B0604020202020204" charset="-128"/>
      <p:regular r:id="rId25"/>
    </p:embeddedFont>
    <p:embeddedFont>
      <p:font typeface="Canva Sans" panose="020B0604020202020204" charset="0"/>
      <p:regular r:id="rId26"/>
    </p:embeddedFont>
    <p:embeddedFont>
      <p:font typeface="Canva Sans Bold" panose="020B0604020202020204" charset="0"/>
      <p:regular r:id="rId27"/>
    </p:embeddedFont>
    <p:embeddedFont>
      <p:font typeface="League Spartan" panose="020B0604020202020204" charset="0"/>
      <p:regular r:id="rId28"/>
    </p:embeddedFont>
    <p:embeddedFont>
      <p:font typeface="Monument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sv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colab.research.google.com/drive/1F-2cS2fcrxiW3bDrxodZBpf1l7Be7hM-#scrollTo=murZ6_L5NCCI&amp;fullscreenOutput=true"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TextBox 2"/>
          <p:cNvSpPr txBox="1"/>
          <p:nvPr/>
        </p:nvSpPr>
        <p:spPr>
          <a:xfrm>
            <a:off x="1077618" y="2363707"/>
            <a:ext cx="16132764" cy="2540000"/>
          </a:xfrm>
          <a:prstGeom prst="rect">
            <a:avLst/>
          </a:prstGeom>
        </p:spPr>
        <p:txBody>
          <a:bodyPr lIns="0" tIns="0" rIns="0" bIns="0" rtlCol="0" anchor="t">
            <a:spAutoFit/>
          </a:bodyPr>
          <a:lstStyle/>
          <a:p>
            <a:pPr marL="0" lvl="0" indent="0" algn="l">
              <a:lnSpc>
                <a:spcPts val="10000"/>
              </a:lnSpc>
            </a:pPr>
            <a:r>
              <a:rPr lang="en-US" sz="8000">
                <a:solidFill>
                  <a:srgbClr val="141412"/>
                </a:solidFill>
                <a:latin typeface="Monument Bold"/>
                <a:ea typeface="Monument Bold"/>
                <a:cs typeface="Monument Bold"/>
                <a:sym typeface="Monument Bold"/>
              </a:rPr>
              <a:t>BUSINESS ANALYTICS DESCRIPTIVE ANALYSIS</a:t>
            </a:r>
          </a:p>
        </p:txBody>
      </p:sp>
      <p:grpSp>
        <p:nvGrpSpPr>
          <p:cNvPr id="4" name="Group 4"/>
          <p:cNvGrpSpPr/>
          <p:nvPr/>
        </p:nvGrpSpPr>
        <p:grpSpPr>
          <a:xfrm>
            <a:off x="7758077" y="269875"/>
            <a:ext cx="9501223" cy="301625"/>
            <a:chOff x="0" y="0"/>
            <a:chExt cx="12668297" cy="402167"/>
          </a:xfrm>
        </p:grpSpPr>
        <p:sp>
          <p:nvSpPr>
            <p:cNvPr id="5" name="TextBox 5"/>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6" name="TextBox 6"/>
            <p:cNvSpPr txBox="1"/>
            <p:nvPr/>
          </p:nvSpPr>
          <p:spPr>
            <a:xfrm>
              <a:off x="0" y="-28575"/>
              <a:ext cx="3695794" cy="430742"/>
            </a:xfrm>
            <a:prstGeom prst="rect">
              <a:avLst/>
            </a:prstGeom>
          </p:spPr>
          <p:txBody>
            <a:bodyPr lIns="0" tIns="0" rIns="0" bIns="0" rtlCol="0" anchor="t">
              <a:spAutoFit/>
            </a:bodyPr>
            <a:lstStyle/>
            <a:p>
              <a:pPr algn="ctr">
                <a:lnSpc>
                  <a:spcPts val="2799"/>
                </a:lnSpc>
              </a:pPr>
              <a:r>
                <a:rPr lang="en-US" sz="1999">
                  <a:solidFill>
                    <a:srgbClr val="141412"/>
                  </a:solidFill>
                  <a:latin typeface="Helvetica World"/>
                  <a:ea typeface="Helvetica World"/>
                  <a:cs typeface="Helvetica World"/>
                  <a:sym typeface="Helvetica World"/>
                </a:rPr>
                <a:t>GROUP 19 </a:t>
              </a:r>
            </a:p>
          </p:txBody>
        </p:sp>
      </p:grpSp>
      <p:sp>
        <p:nvSpPr>
          <p:cNvPr id="7" name="TextBox 7"/>
          <p:cNvSpPr txBox="1"/>
          <p:nvPr/>
        </p:nvSpPr>
        <p:spPr>
          <a:xfrm>
            <a:off x="4889748" y="4837032"/>
            <a:ext cx="8508504" cy="887095"/>
          </a:xfrm>
          <a:prstGeom prst="rect">
            <a:avLst/>
          </a:prstGeom>
        </p:spPr>
        <p:txBody>
          <a:bodyPr lIns="0" tIns="0" rIns="0" bIns="0" rtlCol="0" anchor="t">
            <a:spAutoFit/>
          </a:bodyPr>
          <a:lstStyle/>
          <a:p>
            <a:pPr algn="ctr">
              <a:lnSpc>
                <a:spcPts val="7279"/>
              </a:lnSpc>
            </a:pPr>
            <a:r>
              <a:rPr lang="en-US" sz="5199" b="1">
                <a:solidFill>
                  <a:srgbClr val="141412"/>
                </a:solidFill>
                <a:latin typeface="Canva Sans Bold"/>
                <a:ea typeface="Canva Sans Bold"/>
                <a:cs typeface="Canva Sans Bold"/>
                <a:sym typeface="Canva Sans Bold"/>
              </a:rPr>
              <a:t>Amazon E-commerce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1028704" y="4412240"/>
            <a:ext cx="424180" cy="424180"/>
          </a:xfrm>
          <a:custGeom>
            <a:avLst/>
            <a:gdLst/>
            <a:ahLst/>
            <a:cxnLst/>
            <a:rect l="l" t="t" r="r" b="b"/>
            <a:pathLst>
              <a:path w="424180" h="424180">
                <a:moveTo>
                  <a:pt x="0" y="0"/>
                </a:moveTo>
                <a:lnTo>
                  <a:pt x="424180" y="0"/>
                </a:lnTo>
                <a:lnTo>
                  <a:pt x="424180" y="424180"/>
                </a:lnTo>
                <a:lnTo>
                  <a:pt x="0" y="4241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028704" y="5296616"/>
            <a:ext cx="424180" cy="424180"/>
          </a:xfrm>
          <a:custGeom>
            <a:avLst/>
            <a:gdLst/>
            <a:ahLst/>
            <a:cxnLst/>
            <a:rect l="l" t="t" r="r" b="b"/>
            <a:pathLst>
              <a:path w="424180" h="424180">
                <a:moveTo>
                  <a:pt x="0" y="0"/>
                </a:moveTo>
                <a:lnTo>
                  <a:pt x="424180" y="0"/>
                </a:lnTo>
                <a:lnTo>
                  <a:pt x="424180" y="424180"/>
                </a:lnTo>
                <a:lnTo>
                  <a:pt x="0" y="4241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028704" y="6180992"/>
            <a:ext cx="424180" cy="424180"/>
          </a:xfrm>
          <a:custGeom>
            <a:avLst/>
            <a:gdLst/>
            <a:ahLst/>
            <a:cxnLst/>
            <a:rect l="l" t="t" r="r" b="b"/>
            <a:pathLst>
              <a:path w="424180" h="424180">
                <a:moveTo>
                  <a:pt x="0" y="0"/>
                </a:moveTo>
                <a:lnTo>
                  <a:pt x="424180" y="0"/>
                </a:lnTo>
                <a:lnTo>
                  <a:pt x="424180" y="424180"/>
                </a:lnTo>
                <a:lnTo>
                  <a:pt x="0" y="4241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028708" y="7062372"/>
            <a:ext cx="424180" cy="424180"/>
          </a:xfrm>
          <a:custGeom>
            <a:avLst/>
            <a:gdLst/>
            <a:ahLst/>
            <a:cxnLst/>
            <a:rect l="l" t="t" r="r" b="b"/>
            <a:pathLst>
              <a:path w="424180" h="424180">
                <a:moveTo>
                  <a:pt x="0" y="0"/>
                </a:moveTo>
                <a:lnTo>
                  <a:pt x="424180" y="0"/>
                </a:lnTo>
                <a:lnTo>
                  <a:pt x="424180" y="424180"/>
                </a:lnTo>
                <a:lnTo>
                  <a:pt x="0" y="4241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a:off x="1028704" y="7946748"/>
            <a:ext cx="424180" cy="424180"/>
          </a:xfrm>
          <a:custGeom>
            <a:avLst/>
            <a:gdLst/>
            <a:ahLst/>
            <a:cxnLst/>
            <a:rect l="l" t="t" r="r" b="b"/>
            <a:pathLst>
              <a:path w="424180" h="424180">
                <a:moveTo>
                  <a:pt x="0" y="0"/>
                </a:moveTo>
                <a:lnTo>
                  <a:pt x="424180" y="0"/>
                </a:lnTo>
                <a:lnTo>
                  <a:pt x="424180" y="424180"/>
                </a:lnTo>
                <a:lnTo>
                  <a:pt x="0" y="4241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TextBox 7"/>
          <p:cNvSpPr txBox="1"/>
          <p:nvPr/>
        </p:nvSpPr>
        <p:spPr>
          <a:xfrm>
            <a:off x="6491961" y="875824"/>
            <a:ext cx="10767339" cy="1273175"/>
          </a:xfrm>
          <a:prstGeom prst="rect">
            <a:avLst/>
          </a:prstGeom>
        </p:spPr>
        <p:txBody>
          <a:bodyPr lIns="0" tIns="0" rIns="0" bIns="0" rtlCol="0" anchor="t">
            <a:spAutoFit/>
          </a:bodyPr>
          <a:lstStyle/>
          <a:p>
            <a:pPr marL="0" lvl="0" indent="0" algn="l">
              <a:lnSpc>
                <a:spcPts val="10000"/>
              </a:lnSpc>
              <a:spcBef>
                <a:spcPct val="0"/>
              </a:spcBef>
            </a:pPr>
            <a:r>
              <a:rPr lang="en-US" sz="8000" u="none" strike="noStrike">
                <a:solidFill>
                  <a:srgbClr val="141412"/>
                </a:solidFill>
                <a:latin typeface="Monument Bold"/>
                <a:ea typeface="Monument Bold"/>
                <a:cs typeface="Monument Bold"/>
                <a:sym typeface="Monument Bold"/>
              </a:rPr>
              <a:t>AGENDA</a:t>
            </a:r>
          </a:p>
        </p:txBody>
      </p:sp>
      <p:sp>
        <p:nvSpPr>
          <p:cNvPr id="8" name="TextBox 8"/>
          <p:cNvSpPr txBox="1"/>
          <p:nvPr/>
        </p:nvSpPr>
        <p:spPr>
          <a:xfrm>
            <a:off x="3680745" y="4355090"/>
            <a:ext cx="8115300" cy="481330"/>
          </a:xfrm>
          <a:prstGeom prst="rect">
            <a:avLst/>
          </a:prstGeom>
        </p:spPr>
        <p:txBody>
          <a:bodyPr lIns="0" tIns="0" rIns="0" bIns="0" rtlCol="0" anchor="t">
            <a:spAutoFit/>
          </a:bodyPr>
          <a:lstStyle/>
          <a:p>
            <a:pPr marL="0" lvl="0" indent="0" algn="l">
              <a:lnSpc>
                <a:spcPts val="3919"/>
              </a:lnSpc>
              <a:spcBef>
                <a:spcPct val="0"/>
              </a:spcBef>
            </a:pPr>
            <a:r>
              <a:rPr lang="en-US" sz="2799">
                <a:solidFill>
                  <a:srgbClr val="141412"/>
                </a:solidFill>
                <a:latin typeface="Monument Bold"/>
                <a:ea typeface="Monument Bold"/>
                <a:cs typeface="Monument Bold"/>
                <a:sym typeface="Monument Bold"/>
              </a:rPr>
              <a:t>INTRODUCTION</a:t>
            </a:r>
          </a:p>
        </p:txBody>
      </p:sp>
      <p:sp>
        <p:nvSpPr>
          <p:cNvPr id="9" name="TextBox 9"/>
          <p:cNvSpPr txBox="1"/>
          <p:nvPr/>
        </p:nvSpPr>
        <p:spPr>
          <a:xfrm>
            <a:off x="1710059" y="4427162"/>
            <a:ext cx="1719443" cy="356235"/>
          </a:xfrm>
          <a:prstGeom prst="rect">
            <a:avLst/>
          </a:prstGeom>
        </p:spPr>
        <p:txBody>
          <a:bodyPr lIns="0" tIns="0" rIns="0" bIns="0" rtlCol="0" anchor="t">
            <a:spAutoFit/>
          </a:bodyPr>
          <a:lstStyle/>
          <a:p>
            <a:pPr marL="0" lvl="0" indent="0" algn="l">
              <a:lnSpc>
                <a:spcPts val="2940"/>
              </a:lnSpc>
            </a:pPr>
            <a:r>
              <a:rPr lang="en-US" sz="2100">
                <a:solidFill>
                  <a:srgbClr val="141412"/>
                </a:solidFill>
                <a:latin typeface="Helvetica World"/>
                <a:ea typeface="Helvetica World"/>
                <a:cs typeface="Helvetica World"/>
                <a:sym typeface="Helvetica World"/>
              </a:rPr>
              <a:t>04</a:t>
            </a:r>
          </a:p>
        </p:txBody>
      </p:sp>
      <p:sp>
        <p:nvSpPr>
          <p:cNvPr id="10" name="TextBox 10"/>
          <p:cNvSpPr txBox="1"/>
          <p:nvPr/>
        </p:nvSpPr>
        <p:spPr>
          <a:xfrm>
            <a:off x="3680745" y="5239466"/>
            <a:ext cx="9200181" cy="481330"/>
          </a:xfrm>
          <a:prstGeom prst="rect">
            <a:avLst/>
          </a:prstGeom>
        </p:spPr>
        <p:txBody>
          <a:bodyPr lIns="0" tIns="0" rIns="0" bIns="0" rtlCol="0" anchor="t">
            <a:spAutoFit/>
          </a:bodyPr>
          <a:lstStyle/>
          <a:p>
            <a:pPr marL="0" lvl="0" indent="0" algn="l">
              <a:lnSpc>
                <a:spcPts val="3919"/>
              </a:lnSpc>
              <a:spcBef>
                <a:spcPct val="0"/>
              </a:spcBef>
            </a:pPr>
            <a:r>
              <a:rPr lang="en-US" sz="2799">
                <a:solidFill>
                  <a:srgbClr val="141412"/>
                </a:solidFill>
                <a:latin typeface="Monument Bold"/>
                <a:ea typeface="Monument Bold"/>
                <a:cs typeface="Monument Bold"/>
                <a:sym typeface="Monument Bold"/>
              </a:rPr>
              <a:t>DATA INTEGRATION &amp; PREPROCESSING</a:t>
            </a:r>
          </a:p>
        </p:txBody>
      </p:sp>
      <p:sp>
        <p:nvSpPr>
          <p:cNvPr id="11" name="TextBox 11"/>
          <p:cNvSpPr txBox="1"/>
          <p:nvPr/>
        </p:nvSpPr>
        <p:spPr>
          <a:xfrm>
            <a:off x="1710059" y="5311538"/>
            <a:ext cx="1719443" cy="356235"/>
          </a:xfrm>
          <a:prstGeom prst="rect">
            <a:avLst/>
          </a:prstGeom>
        </p:spPr>
        <p:txBody>
          <a:bodyPr lIns="0" tIns="0" rIns="0" bIns="0" rtlCol="0" anchor="t">
            <a:spAutoFit/>
          </a:bodyPr>
          <a:lstStyle/>
          <a:p>
            <a:pPr marL="0" lvl="0" indent="0" algn="l">
              <a:lnSpc>
                <a:spcPts val="2940"/>
              </a:lnSpc>
            </a:pPr>
            <a:r>
              <a:rPr lang="en-US" sz="2100">
                <a:solidFill>
                  <a:srgbClr val="141412"/>
                </a:solidFill>
                <a:latin typeface="Helvetica World"/>
                <a:ea typeface="Helvetica World"/>
                <a:cs typeface="Helvetica World"/>
                <a:sym typeface="Helvetica World"/>
              </a:rPr>
              <a:t>05</a:t>
            </a:r>
          </a:p>
        </p:txBody>
      </p:sp>
      <p:sp>
        <p:nvSpPr>
          <p:cNvPr id="12" name="TextBox 12"/>
          <p:cNvSpPr txBox="1"/>
          <p:nvPr/>
        </p:nvSpPr>
        <p:spPr>
          <a:xfrm>
            <a:off x="3680745" y="6123842"/>
            <a:ext cx="8115300" cy="481330"/>
          </a:xfrm>
          <a:prstGeom prst="rect">
            <a:avLst/>
          </a:prstGeom>
        </p:spPr>
        <p:txBody>
          <a:bodyPr lIns="0" tIns="0" rIns="0" bIns="0" rtlCol="0" anchor="t">
            <a:spAutoFit/>
          </a:bodyPr>
          <a:lstStyle/>
          <a:p>
            <a:pPr marL="0" lvl="0" indent="0" algn="l">
              <a:lnSpc>
                <a:spcPts val="3919"/>
              </a:lnSpc>
              <a:spcBef>
                <a:spcPct val="0"/>
              </a:spcBef>
            </a:pPr>
            <a:r>
              <a:rPr lang="en-US" sz="2799">
                <a:solidFill>
                  <a:srgbClr val="141412"/>
                </a:solidFill>
                <a:latin typeface="Monument Bold"/>
                <a:ea typeface="Monument Bold"/>
                <a:cs typeface="Monument Bold"/>
                <a:sym typeface="Monument Bold"/>
              </a:rPr>
              <a:t>EXPLORATORY ANALYSIS</a:t>
            </a:r>
          </a:p>
        </p:txBody>
      </p:sp>
      <p:sp>
        <p:nvSpPr>
          <p:cNvPr id="13" name="TextBox 13"/>
          <p:cNvSpPr txBox="1"/>
          <p:nvPr/>
        </p:nvSpPr>
        <p:spPr>
          <a:xfrm>
            <a:off x="1710059" y="6195914"/>
            <a:ext cx="1719443" cy="356235"/>
          </a:xfrm>
          <a:prstGeom prst="rect">
            <a:avLst/>
          </a:prstGeom>
        </p:spPr>
        <p:txBody>
          <a:bodyPr lIns="0" tIns="0" rIns="0" bIns="0" rtlCol="0" anchor="t">
            <a:spAutoFit/>
          </a:bodyPr>
          <a:lstStyle/>
          <a:p>
            <a:pPr marL="0" lvl="0" indent="0" algn="l">
              <a:lnSpc>
                <a:spcPts val="2940"/>
              </a:lnSpc>
            </a:pPr>
            <a:r>
              <a:rPr lang="en-US" sz="2100">
                <a:solidFill>
                  <a:srgbClr val="141412"/>
                </a:solidFill>
                <a:latin typeface="Helvetica World"/>
                <a:ea typeface="Helvetica World"/>
                <a:cs typeface="Helvetica World"/>
                <a:sym typeface="Helvetica World"/>
              </a:rPr>
              <a:t>09</a:t>
            </a:r>
          </a:p>
        </p:txBody>
      </p:sp>
      <p:sp>
        <p:nvSpPr>
          <p:cNvPr id="14" name="TextBox 14"/>
          <p:cNvSpPr txBox="1"/>
          <p:nvPr/>
        </p:nvSpPr>
        <p:spPr>
          <a:xfrm>
            <a:off x="3680749" y="7005222"/>
            <a:ext cx="8115300" cy="481330"/>
          </a:xfrm>
          <a:prstGeom prst="rect">
            <a:avLst/>
          </a:prstGeom>
        </p:spPr>
        <p:txBody>
          <a:bodyPr lIns="0" tIns="0" rIns="0" bIns="0" rtlCol="0" anchor="t">
            <a:spAutoFit/>
          </a:bodyPr>
          <a:lstStyle/>
          <a:p>
            <a:pPr marL="0" lvl="0" indent="0" algn="l">
              <a:lnSpc>
                <a:spcPts val="3919"/>
              </a:lnSpc>
              <a:spcBef>
                <a:spcPct val="0"/>
              </a:spcBef>
            </a:pPr>
            <a:r>
              <a:rPr lang="en-US" sz="2799">
                <a:solidFill>
                  <a:srgbClr val="141412"/>
                </a:solidFill>
                <a:latin typeface="Monument Bold"/>
                <a:ea typeface="Monument Bold"/>
                <a:cs typeface="Monument Bold"/>
                <a:sym typeface="Monument Bold"/>
              </a:rPr>
              <a:t>INTERACTIVE DASHBOARD</a:t>
            </a:r>
          </a:p>
        </p:txBody>
      </p:sp>
      <p:sp>
        <p:nvSpPr>
          <p:cNvPr id="15" name="TextBox 15"/>
          <p:cNvSpPr txBox="1"/>
          <p:nvPr/>
        </p:nvSpPr>
        <p:spPr>
          <a:xfrm>
            <a:off x="1710063" y="7077295"/>
            <a:ext cx="1719443" cy="356235"/>
          </a:xfrm>
          <a:prstGeom prst="rect">
            <a:avLst/>
          </a:prstGeom>
        </p:spPr>
        <p:txBody>
          <a:bodyPr lIns="0" tIns="0" rIns="0" bIns="0" rtlCol="0" anchor="t">
            <a:spAutoFit/>
          </a:bodyPr>
          <a:lstStyle/>
          <a:p>
            <a:pPr marL="0" lvl="0" indent="0" algn="l">
              <a:lnSpc>
                <a:spcPts val="2940"/>
              </a:lnSpc>
            </a:pPr>
            <a:r>
              <a:rPr lang="en-US" sz="2100">
                <a:solidFill>
                  <a:srgbClr val="141412"/>
                </a:solidFill>
                <a:latin typeface="Helvetica World"/>
                <a:ea typeface="Helvetica World"/>
                <a:cs typeface="Helvetica World"/>
                <a:sym typeface="Helvetica World"/>
              </a:rPr>
              <a:t>17</a:t>
            </a:r>
          </a:p>
        </p:txBody>
      </p:sp>
      <p:sp>
        <p:nvSpPr>
          <p:cNvPr id="16" name="TextBox 16"/>
          <p:cNvSpPr txBox="1"/>
          <p:nvPr/>
        </p:nvSpPr>
        <p:spPr>
          <a:xfrm>
            <a:off x="3680745" y="7889598"/>
            <a:ext cx="8115300" cy="481330"/>
          </a:xfrm>
          <a:prstGeom prst="rect">
            <a:avLst/>
          </a:prstGeom>
        </p:spPr>
        <p:txBody>
          <a:bodyPr lIns="0" tIns="0" rIns="0" bIns="0" rtlCol="0" anchor="t">
            <a:spAutoFit/>
          </a:bodyPr>
          <a:lstStyle/>
          <a:p>
            <a:pPr marL="0" lvl="0" indent="0" algn="l">
              <a:lnSpc>
                <a:spcPts val="3919"/>
              </a:lnSpc>
              <a:spcBef>
                <a:spcPct val="0"/>
              </a:spcBef>
            </a:pPr>
            <a:r>
              <a:rPr lang="en-US" sz="2799">
                <a:solidFill>
                  <a:srgbClr val="141412"/>
                </a:solidFill>
                <a:latin typeface="Monument Bold"/>
                <a:ea typeface="Monument Bold"/>
                <a:cs typeface="Monument Bold"/>
                <a:sym typeface="Monument Bold"/>
              </a:rPr>
              <a:t>CONCLUSION</a:t>
            </a:r>
          </a:p>
        </p:txBody>
      </p:sp>
      <p:sp>
        <p:nvSpPr>
          <p:cNvPr id="17" name="TextBox 17"/>
          <p:cNvSpPr txBox="1"/>
          <p:nvPr/>
        </p:nvSpPr>
        <p:spPr>
          <a:xfrm>
            <a:off x="1710059" y="7961671"/>
            <a:ext cx="1719443" cy="356235"/>
          </a:xfrm>
          <a:prstGeom prst="rect">
            <a:avLst/>
          </a:prstGeom>
        </p:spPr>
        <p:txBody>
          <a:bodyPr lIns="0" tIns="0" rIns="0" bIns="0" rtlCol="0" anchor="t">
            <a:spAutoFit/>
          </a:bodyPr>
          <a:lstStyle/>
          <a:p>
            <a:pPr marL="0" lvl="0" indent="0" algn="l">
              <a:lnSpc>
                <a:spcPts val="2940"/>
              </a:lnSpc>
            </a:pPr>
            <a:r>
              <a:rPr lang="en-US" sz="2100">
                <a:solidFill>
                  <a:srgbClr val="141412"/>
                </a:solidFill>
                <a:latin typeface="Helvetica World"/>
                <a:ea typeface="Helvetica World"/>
                <a:cs typeface="Helvetica World"/>
                <a:sym typeface="Helvetica World"/>
              </a:rPr>
              <a:t>18</a:t>
            </a:r>
          </a:p>
        </p:txBody>
      </p:sp>
      <p:grpSp>
        <p:nvGrpSpPr>
          <p:cNvPr id="18" name="Group 18"/>
          <p:cNvGrpSpPr/>
          <p:nvPr/>
        </p:nvGrpSpPr>
        <p:grpSpPr>
          <a:xfrm>
            <a:off x="7758077" y="269875"/>
            <a:ext cx="9501223" cy="301625"/>
            <a:chOff x="0" y="0"/>
            <a:chExt cx="12668297" cy="402167"/>
          </a:xfrm>
        </p:grpSpPr>
        <p:sp>
          <p:nvSpPr>
            <p:cNvPr id="19" name="TextBox 19"/>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20" name="TextBox 20"/>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2</a:t>
            </a:r>
          </a:p>
        </p:txBody>
      </p:sp>
      <p:sp>
        <p:nvSpPr>
          <p:cNvPr id="22" name="TextBox 22"/>
          <p:cNvSpPr txBox="1"/>
          <p:nvPr/>
        </p:nvSpPr>
        <p:spPr>
          <a:xfrm>
            <a:off x="3680745" y="8638421"/>
            <a:ext cx="8115300" cy="481330"/>
          </a:xfrm>
          <a:prstGeom prst="rect">
            <a:avLst/>
          </a:prstGeom>
        </p:spPr>
        <p:txBody>
          <a:bodyPr lIns="0" tIns="0" rIns="0" bIns="0" rtlCol="0" anchor="t">
            <a:spAutoFit/>
          </a:bodyPr>
          <a:lstStyle/>
          <a:p>
            <a:pPr marL="0" lvl="0" indent="0" algn="l">
              <a:lnSpc>
                <a:spcPts val="3919"/>
              </a:lnSpc>
              <a:spcBef>
                <a:spcPct val="0"/>
              </a:spcBef>
            </a:pPr>
            <a:r>
              <a:rPr lang="en-US" sz="2799">
                <a:solidFill>
                  <a:srgbClr val="141412"/>
                </a:solidFill>
                <a:latin typeface="Monument Bold"/>
                <a:ea typeface="Monument Bold"/>
                <a:cs typeface="Monument Bold"/>
                <a:sym typeface="Monument Bold"/>
              </a:rPr>
              <a:t>Q&amp;A</a:t>
            </a:r>
          </a:p>
        </p:txBody>
      </p:sp>
      <p:sp>
        <p:nvSpPr>
          <p:cNvPr id="23" name="Freeform 23"/>
          <p:cNvSpPr/>
          <p:nvPr/>
        </p:nvSpPr>
        <p:spPr>
          <a:xfrm>
            <a:off x="1028700" y="3545046"/>
            <a:ext cx="424180" cy="424180"/>
          </a:xfrm>
          <a:custGeom>
            <a:avLst/>
            <a:gdLst/>
            <a:ahLst/>
            <a:cxnLst/>
            <a:rect l="l" t="t" r="r" b="b"/>
            <a:pathLst>
              <a:path w="424180" h="424180">
                <a:moveTo>
                  <a:pt x="0" y="0"/>
                </a:moveTo>
                <a:lnTo>
                  <a:pt x="424180" y="0"/>
                </a:lnTo>
                <a:lnTo>
                  <a:pt x="424180" y="424180"/>
                </a:lnTo>
                <a:lnTo>
                  <a:pt x="0" y="4241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4" name="TextBox 24"/>
          <p:cNvSpPr txBox="1"/>
          <p:nvPr/>
        </p:nvSpPr>
        <p:spPr>
          <a:xfrm>
            <a:off x="1710055" y="3559969"/>
            <a:ext cx="1719443" cy="356235"/>
          </a:xfrm>
          <a:prstGeom prst="rect">
            <a:avLst/>
          </a:prstGeom>
        </p:spPr>
        <p:txBody>
          <a:bodyPr lIns="0" tIns="0" rIns="0" bIns="0" rtlCol="0" anchor="t">
            <a:spAutoFit/>
          </a:bodyPr>
          <a:lstStyle/>
          <a:p>
            <a:pPr marL="0" lvl="0" indent="0" algn="l">
              <a:lnSpc>
                <a:spcPts val="2940"/>
              </a:lnSpc>
            </a:pPr>
            <a:r>
              <a:rPr lang="en-US" sz="2100">
                <a:solidFill>
                  <a:srgbClr val="141412"/>
                </a:solidFill>
                <a:latin typeface="Helvetica World"/>
                <a:ea typeface="Helvetica World"/>
                <a:cs typeface="Helvetica World"/>
                <a:sym typeface="Helvetica World"/>
              </a:rPr>
              <a:t>03</a:t>
            </a:r>
          </a:p>
        </p:txBody>
      </p:sp>
      <p:sp>
        <p:nvSpPr>
          <p:cNvPr id="25" name="TextBox 25"/>
          <p:cNvSpPr txBox="1"/>
          <p:nvPr/>
        </p:nvSpPr>
        <p:spPr>
          <a:xfrm>
            <a:off x="3680745" y="3434874"/>
            <a:ext cx="8115300" cy="481330"/>
          </a:xfrm>
          <a:prstGeom prst="rect">
            <a:avLst/>
          </a:prstGeom>
        </p:spPr>
        <p:txBody>
          <a:bodyPr lIns="0" tIns="0" rIns="0" bIns="0" rtlCol="0" anchor="t">
            <a:spAutoFit/>
          </a:bodyPr>
          <a:lstStyle/>
          <a:p>
            <a:pPr marL="0" lvl="0" indent="0" algn="l">
              <a:lnSpc>
                <a:spcPts val="3919"/>
              </a:lnSpc>
              <a:spcBef>
                <a:spcPct val="0"/>
              </a:spcBef>
            </a:pPr>
            <a:r>
              <a:rPr lang="en-US" sz="2799">
                <a:solidFill>
                  <a:srgbClr val="141412"/>
                </a:solidFill>
                <a:latin typeface="Monument Bold"/>
                <a:ea typeface="Monument Bold"/>
                <a:cs typeface="Monument Bold"/>
                <a:sym typeface="Monument Bold"/>
              </a:rPr>
              <a:t>METHODOLOGY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371029"/>
            <a:ext cx="5448363" cy="562192"/>
            <a:chOff x="0" y="0"/>
            <a:chExt cx="1434960" cy="148067"/>
          </a:xfrm>
        </p:grpSpPr>
        <p:sp>
          <p:nvSpPr>
            <p:cNvPr id="3" name="Freeform 3"/>
            <p:cNvSpPr/>
            <p:nvPr/>
          </p:nvSpPr>
          <p:spPr>
            <a:xfrm>
              <a:off x="0" y="0"/>
              <a:ext cx="1434960" cy="148067"/>
            </a:xfrm>
            <a:custGeom>
              <a:avLst/>
              <a:gdLst/>
              <a:ahLst/>
              <a:cxnLst/>
              <a:rect l="l" t="t" r="r" b="b"/>
              <a:pathLst>
                <a:path w="1434960" h="148067">
                  <a:moveTo>
                    <a:pt x="72469" y="0"/>
                  </a:moveTo>
                  <a:lnTo>
                    <a:pt x="1362491" y="0"/>
                  </a:lnTo>
                  <a:cubicBezTo>
                    <a:pt x="1381711" y="0"/>
                    <a:pt x="1400144" y="7635"/>
                    <a:pt x="1413734" y="21226"/>
                  </a:cubicBezTo>
                  <a:cubicBezTo>
                    <a:pt x="1427325" y="34816"/>
                    <a:pt x="1434960" y="53249"/>
                    <a:pt x="1434960" y="72469"/>
                  </a:cubicBezTo>
                  <a:lnTo>
                    <a:pt x="1434960" y="75598"/>
                  </a:lnTo>
                  <a:cubicBezTo>
                    <a:pt x="1434960" y="115622"/>
                    <a:pt x="1402514" y="148067"/>
                    <a:pt x="1362491" y="148067"/>
                  </a:cubicBezTo>
                  <a:lnTo>
                    <a:pt x="72469" y="148067"/>
                  </a:lnTo>
                  <a:cubicBezTo>
                    <a:pt x="32446" y="148067"/>
                    <a:pt x="0" y="115622"/>
                    <a:pt x="0" y="75598"/>
                  </a:cubicBezTo>
                  <a:lnTo>
                    <a:pt x="0" y="72469"/>
                  </a:lnTo>
                  <a:cubicBezTo>
                    <a:pt x="0" y="32446"/>
                    <a:pt x="32446" y="0"/>
                    <a:pt x="72469" y="0"/>
                  </a:cubicBezTo>
                  <a:close/>
                </a:path>
              </a:pathLst>
            </a:custGeom>
            <a:solidFill>
              <a:srgbClr val="90CAF9"/>
            </a:solidFill>
          </p:spPr>
          <p:txBody>
            <a:bodyPr/>
            <a:lstStyle/>
            <a:p>
              <a:endParaRPr lang="en-IN"/>
            </a:p>
          </p:txBody>
        </p:sp>
        <p:sp>
          <p:nvSpPr>
            <p:cNvPr id="4" name="TextBox 4"/>
            <p:cNvSpPr txBox="1"/>
            <p:nvPr/>
          </p:nvSpPr>
          <p:spPr>
            <a:xfrm>
              <a:off x="0" y="-28575"/>
              <a:ext cx="1434960" cy="176642"/>
            </a:xfrm>
            <a:prstGeom prst="rect">
              <a:avLst/>
            </a:prstGeom>
          </p:spPr>
          <p:txBody>
            <a:bodyPr lIns="50800" tIns="50800" rIns="50800" bIns="50800" rtlCol="0" anchor="ctr"/>
            <a:lstStyle/>
            <a:p>
              <a:pPr algn="ctr">
                <a:lnSpc>
                  <a:spcPts val="2799"/>
                </a:lnSpc>
              </a:pPr>
              <a:endParaRPr/>
            </a:p>
          </p:txBody>
        </p:sp>
      </p:grpSp>
      <p:sp>
        <p:nvSpPr>
          <p:cNvPr id="5" name="TextBox 5"/>
          <p:cNvSpPr txBox="1"/>
          <p:nvPr/>
        </p:nvSpPr>
        <p:spPr>
          <a:xfrm>
            <a:off x="5282099" y="778684"/>
            <a:ext cx="7723801" cy="900874"/>
          </a:xfrm>
          <a:prstGeom prst="rect">
            <a:avLst/>
          </a:prstGeom>
        </p:spPr>
        <p:txBody>
          <a:bodyPr lIns="0" tIns="0" rIns="0" bIns="0" rtlCol="0" anchor="t">
            <a:spAutoFit/>
          </a:bodyPr>
          <a:lstStyle/>
          <a:p>
            <a:pPr marL="0" lvl="0" indent="0" algn="l">
              <a:lnSpc>
                <a:spcPts val="7173"/>
              </a:lnSpc>
              <a:spcBef>
                <a:spcPct val="0"/>
              </a:spcBef>
            </a:pPr>
            <a:r>
              <a:rPr lang="en-US" sz="5738">
                <a:solidFill>
                  <a:srgbClr val="141412"/>
                </a:solidFill>
                <a:latin typeface="Monument Bold"/>
                <a:ea typeface="Monument Bold"/>
                <a:cs typeface="Monument Bold"/>
                <a:sym typeface="Monument Bold"/>
              </a:rPr>
              <a:t>METHODOLOGY</a:t>
            </a:r>
          </a:p>
        </p:txBody>
      </p:sp>
      <p:grpSp>
        <p:nvGrpSpPr>
          <p:cNvPr id="6" name="Group 6"/>
          <p:cNvGrpSpPr/>
          <p:nvPr/>
        </p:nvGrpSpPr>
        <p:grpSpPr>
          <a:xfrm>
            <a:off x="7758077" y="269875"/>
            <a:ext cx="9501223" cy="301625"/>
            <a:chOff x="0" y="0"/>
            <a:chExt cx="12668297" cy="402167"/>
          </a:xfrm>
        </p:grpSpPr>
        <p:sp>
          <p:nvSpPr>
            <p:cNvPr id="7" name="TextBox 7"/>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8" name="TextBox 8"/>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3</a:t>
            </a:r>
          </a:p>
        </p:txBody>
      </p:sp>
      <p:sp>
        <p:nvSpPr>
          <p:cNvPr id="10" name="TextBox 10"/>
          <p:cNvSpPr txBox="1"/>
          <p:nvPr/>
        </p:nvSpPr>
        <p:spPr>
          <a:xfrm>
            <a:off x="1179494" y="2366376"/>
            <a:ext cx="15405943" cy="514349"/>
          </a:xfrm>
          <a:prstGeom prst="rect">
            <a:avLst/>
          </a:prstGeom>
        </p:spPr>
        <p:txBody>
          <a:bodyPr lIns="0" tIns="0" rIns="0" bIns="0" rtlCol="0" anchor="t">
            <a:spAutoFit/>
          </a:bodyPr>
          <a:lstStyle/>
          <a:p>
            <a:pPr algn="l">
              <a:lnSpc>
                <a:spcPts val="4200"/>
              </a:lnSpc>
            </a:pPr>
            <a:r>
              <a:rPr lang="en-US" sz="3000" b="1">
                <a:solidFill>
                  <a:srgbClr val="141412"/>
                </a:solidFill>
                <a:latin typeface="Canva Sans Bold"/>
                <a:ea typeface="Canva Sans Bold"/>
                <a:cs typeface="Canva Sans Bold"/>
                <a:sym typeface="Canva Sans Bold"/>
              </a:rPr>
              <a:t>Development Environment</a:t>
            </a:r>
          </a:p>
        </p:txBody>
      </p:sp>
      <p:sp>
        <p:nvSpPr>
          <p:cNvPr id="11" name="TextBox 11"/>
          <p:cNvSpPr txBox="1"/>
          <p:nvPr/>
        </p:nvSpPr>
        <p:spPr>
          <a:xfrm>
            <a:off x="1179494" y="3090275"/>
            <a:ext cx="7997190" cy="735965"/>
          </a:xfrm>
          <a:prstGeom prst="rect">
            <a:avLst/>
          </a:prstGeom>
        </p:spPr>
        <p:txBody>
          <a:bodyPr lIns="0" tIns="0" rIns="0" bIns="0" rtlCol="0" anchor="t">
            <a:spAutoFit/>
          </a:bodyPr>
          <a:lstStyle/>
          <a:p>
            <a:pPr marL="431799" lvl="1" indent="-215899" algn="l">
              <a:lnSpc>
                <a:spcPts val="2799"/>
              </a:lnSpc>
              <a:buFont typeface="Arial"/>
              <a:buChar char="•"/>
            </a:pPr>
            <a:r>
              <a:rPr lang="en-US" sz="1999" b="1">
                <a:solidFill>
                  <a:srgbClr val="141412"/>
                </a:solidFill>
                <a:latin typeface="Helvetica World Bold"/>
                <a:ea typeface="Helvetica World Bold"/>
                <a:cs typeface="Helvetica World Bold"/>
                <a:sym typeface="Helvetica World Bold"/>
              </a:rPr>
              <a:t>GOOGLE COLAB</a:t>
            </a:r>
            <a:r>
              <a:rPr lang="en-US" sz="1999">
                <a:solidFill>
                  <a:srgbClr val="141412"/>
                </a:solidFill>
                <a:latin typeface="Helvetica World"/>
                <a:ea typeface="Helvetica World"/>
                <a:cs typeface="Helvetica World"/>
                <a:sym typeface="Helvetica World"/>
              </a:rPr>
              <a:t> (CLOUD-BASED PYTHON NOTEBOOK)</a:t>
            </a:r>
          </a:p>
          <a:p>
            <a:pPr marL="431799" lvl="1" indent="-215899" algn="l">
              <a:lnSpc>
                <a:spcPts val="2799"/>
              </a:lnSpc>
              <a:buFont typeface="Arial"/>
              <a:buChar char="•"/>
            </a:pPr>
            <a:r>
              <a:rPr lang="en-US" sz="1999" b="1">
                <a:solidFill>
                  <a:srgbClr val="141412"/>
                </a:solidFill>
                <a:latin typeface="Helvetica World Bold"/>
                <a:ea typeface="Helvetica World Bold"/>
                <a:cs typeface="Helvetica World Bold"/>
                <a:sym typeface="Helvetica World Bold"/>
              </a:rPr>
              <a:t>GOOGLE DRIVE</a:t>
            </a:r>
            <a:r>
              <a:rPr lang="en-US" sz="1999">
                <a:solidFill>
                  <a:srgbClr val="141412"/>
                </a:solidFill>
                <a:latin typeface="Helvetica World"/>
                <a:ea typeface="Helvetica World"/>
                <a:cs typeface="Helvetica World"/>
                <a:sym typeface="Helvetica World"/>
              </a:rPr>
              <a:t> INTEGRATION FOR DATA STORAGE &amp; ACCESS</a:t>
            </a:r>
          </a:p>
        </p:txBody>
      </p:sp>
      <p:grpSp>
        <p:nvGrpSpPr>
          <p:cNvPr id="12" name="Group 12"/>
          <p:cNvGrpSpPr/>
          <p:nvPr/>
        </p:nvGrpSpPr>
        <p:grpSpPr>
          <a:xfrm>
            <a:off x="1028700" y="4761169"/>
            <a:ext cx="4253399" cy="551693"/>
            <a:chOff x="0" y="0"/>
            <a:chExt cx="1120237" cy="145302"/>
          </a:xfrm>
        </p:grpSpPr>
        <p:sp>
          <p:nvSpPr>
            <p:cNvPr id="13" name="Freeform 13"/>
            <p:cNvSpPr/>
            <p:nvPr/>
          </p:nvSpPr>
          <p:spPr>
            <a:xfrm>
              <a:off x="0" y="0"/>
              <a:ext cx="1120237" cy="145302"/>
            </a:xfrm>
            <a:custGeom>
              <a:avLst/>
              <a:gdLst/>
              <a:ahLst/>
              <a:cxnLst/>
              <a:rect l="l" t="t" r="r" b="b"/>
              <a:pathLst>
                <a:path w="1120237" h="145302">
                  <a:moveTo>
                    <a:pt x="72651" y="0"/>
                  </a:moveTo>
                  <a:lnTo>
                    <a:pt x="1047586" y="0"/>
                  </a:lnTo>
                  <a:cubicBezTo>
                    <a:pt x="1087710" y="0"/>
                    <a:pt x="1120237" y="32527"/>
                    <a:pt x="1120237" y="72651"/>
                  </a:cubicBezTo>
                  <a:lnTo>
                    <a:pt x="1120237" y="72651"/>
                  </a:lnTo>
                  <a:cubicBezTo>
                    <a:pt x="1120237" y="91919"/>
                    <a:pt x="1112583" y="110398"/>
                    <a:pt x="1098958" y="124023"/>
                  </a:cubicBezTo>
                  <a:cubicBezTo>
                    <a:pt x="1085333" y="137648"/>
                    <a:pt x="1066854" y="145302"/>
                    <a:pt x="1047586" y="145302"/>
                  </a:cubicBezTo>
                  <a:lnTo>
                    <a:pt x="72651" y="145302"/>
                  </a:lnTo>
                  <a:cubicBezTo>
                    <a:pt x="53383" y="145302"/>
                    <a:pt x="34904" y="137648"/>
                    <a:pt x="21279" y="124023"/>
                  </a:cubicBezTo>
                  <a:cubicBezTo>
                    <a:pt x="7654" y="110398"/>
                    <a:pt x="0" y="91919"/>
                    <a:pt x="0" y="72651"/>
                  </a:cubicBezTo>
                  <a:lnTo>
                    <a:pt x="0" y="72651"/>
                  </a:lnTo>
                  <a:cubicBezTo>
                    <a:pt x="0" y="53383"/>
                    <a:pt x="7654" y="34904"/>
                    <a:pt x="21279" y="21279"/>
                  </a:cubicBezTo>
                  <a:cubicBezTo>
                    <a:pt x="34904" y="7654"/>
                    <a:pt x="53383" y="0"/>
                    <a:pt x="72651" y="0"/>
                  </a:cubicBezTo>
                  <a:close/>
                </a:path>
              </a:pathLst>
            </a:custGeom>
            <a:solidFill>
              <a:srgbClr val="90CAF9"/>
            </a:solidFill>
          </p:spPr>
          <p:txBody>
            <a:bodyPr/>
            <a:lstStyle/>
            <a:p>
              <a:endParaRPr lang="en-IN"/>
            </a:p>
          </p:txBody>
        </p:sp>
        <p:sp>
          <p:nvSpPr>
            <p:cNvPr id="14" name="TextBox 14"/>
            <p:cNvSpPr txBox="1"/>
            <p:nvPr/>
          </p:nvSpPr>
          <p:spPr>
            <a:xfrm>
              <a:off x="0" y="-28575"/>
              <a:ext cx="1120237" cy="173877"/>
            </a:xfrm>
            <a:prstGeom prst="rect">
              <a:avLst/>
            </a:prstGeom>
          </p:spPr>
          <p:txBody>
            <a:bodyPr lIns="50800" tIns="50800" rIns="50800" bIns="50800" rtlCol="0" anchor="ctr"/>
            <a:lstStyle/>
            <a:p>
              <a:pPr algn="ctr">
                <a:lnSpc>
                  <a:spcPts val="2799"/>
                </a:lnSpc>
              </a:pPr>
              <a:endParaRPr/>
            </a:p>
          </p:txBody>
        </p:sp>
      </p:grpSp>
      <p:sp>
        <p:nvSpPr>
          <p:cNvPr id="15" name="TextBox 15"/>
          <p:cNvSpPr txBox="1"/>
          <p:nvPr/>
        </p:nvSpPr>
        <p:spPr>
          <a:xfrm>
            <a:off x="1179494" y="4751266"/>
            <a:ext cx="15405943" cy="514349"/>
          </a:xfrm>
          <a:prstGeom prst="rect">
            <a:avLst/>
          </a:prstGeom>
        </p:spPr>
        <p:txBody>
          <a:bodyPr lIns="0" tIns="0" rIns="0" bIns="0" rtlCol="0" anchor="t">
            <a:spAutoFit/>
          </a:bodyPr>
          <a:lstStyle/>
          <a:p>
            <a:pPr algn="l">
              <a:lnSpc>
                <a:spcPts val="4200"/>
              </a:lnSpc>
            </a:pPr>
            <a:r>
              <a:rPr lang="en-US" sz="3000" b="1">
                <a:solidFill>
                  <a:srgbClr val="141412"/>
                </a:solidFill>
                <a:latin typeface="Canva Sans Bold"/>
                <a:ea typeface="Canva Sans Bold"/>
                <a:cs typeface="Canva Sans Bold"/>
                <a:sym typeface="Canva Sans Bold"/>
              </a:rPr>
              <a:t>Python Data Analysis</a:t>
            </a:r>
          </a:p>
        </p:txBody>
      </p:sp>
      <p:grpSp>
        <p:nvGrpSpPr>
          <p:cNvPr id="16" name="Group 16"/>
          <p:cNvGrpSpPr/>
          <p:nvPr/>
        </p:nvGrpSpPr>
        <p:grpSpPr>
          <a:xfrm>
            <a:off x="1028700" y="7301777"/>
            <a:ext cx="4482420" cy="541194"/>
            <a:chOff x="0" y="0"/>
            <a:chExt cx="1180555" cy="142537"/>
          </a:xfrm>
        </p:grpSpPr>
        <p:sp>
          <p:nvSpPr>
            <p:cNvPr id="17" name="Freeform 17"/>
            <p:cNvSpPr/>
            <p:nvPr/>
          </p:nvSpPr>
          <p:spPr>
            <a:xfrm>
              <a:off x="0" y="0"/>
              <a:ext cx="1180555" cy="142537"/>
            </a:xfrm>
            <a:custGeom>
              <a:avLst/>
              <a:gdLst/>
              <a:ahLst/>
              <a:cxnLst/>
              <a:rect l="l" t="t" r="r" b="b"/>
              <a:pathLst>
                <a:path w="1180555" h="142537">
                  <a:moveTo>
                    <a:pt x="71268" y="0"/>
                  </a:moveTo>
                  <a:lnTo>
                    <a:pt x="1109287" y="0"/>
                  </a:lnTo>
                  <a:cubicBezTo>
                    <a:pt x="1128188" y="0"/>
                    <a:pt x="1146316" y="7509"/>
                    <a:pt x="1159681" y="20874"/>
                  </a:cubicBezTo>
                  <a:cubicBezTo>
                    <a:pt x="1173046" y="34239"/>
                    <a:pt x="1180555" y="52367"/>
                    <a:pt x="1180555" y="71268"/>
                  </a:cubicBezTo>
                  <a:lnTo>
                    <a:pt x="1180555" y="71268"/>
                  </a:lnTo>
                  <a:cubicBezTo>
                    <a:pt x="1180555" y="90170"/>
                    <a:pt x="1173046" y="108297"/>
                    <a:pt x="1159681" y="121663"/>
                  </a:cubicBezTo>
                  <a:cubicBezTo>
                    <a:pt x="1146316" y="135028"/>
                    <a:pt x="1128188" y="142537"/>
                    <a:pt x="1109287" y="142537"/>
                  </a:cubicBezTo>
                  <a:lnTo>
                    <a:pt x="71268" y="142537"/>
                  </a:lnTo>
                  <a:cubicBezTo>
                    <a:pt x="52367" y="142537"/>
                    <a:pt x="34239" y="135028"/>
                    <a:pt x="20874" y="121663"/>
                  </a:cubicBezTo>
                  <a:cubicBezTo>
                    <a:pt x="7509" y="108297"/>
                    <a:pt x="0" y="90170"/>
                    <a:pt x="0" y="71268"/>
                  </a:cubicBezTo>
                  <a:lnTo>
                    <a:pt x="0" y="71268"/>
                  </a:lnTo>
                  <a:cubicBezTo>
                    <a:pt x="0" y="52367"/>
                    <a:pt x="7509" y="34239"/>
                    <a:pt x="20874" y="20874"/>
                  </a:cubicBezTo>
                  <a:cubicBezTo>
                    <a:pt x="34239" y="7509"/>
                    <a:pt x="52367" y="0"/>
                    <a:pt x="71268" y="0"/>
                  </a:cubicBezTo>
                  <a:close/>
                </a:path>
              </a:pathLst>
            </a:custGeom>
            <a:solidFill>
              <a:srgbClr val="90CAF9"/>
            </a:solidFill>
          </p:spPr>
          <p:txBody>
            <a:bodyPr/>
            <a:lstStyle/>
            <a:p>
              <a:endParaRPr lang="en-IN"/>
            </a:p>
          </p:txBody>
        </p:sp>
        <p:sp>
          <p:nvSpPr>
            <p:cNvPr id="18" name="TextBox 18"/>
            <p:cNvSpPr txBox="1"/>
            <p:nvPr/>
          </p:nvSpPr>
          <p:spPr>
            <a:xfrm>
              <a:off x="0" y="-28575"/>
              <a:ext cx="1180555" cy="171112"/>
            </a:xfrm>
            <a:prstGeom prst="rect">
              <a:avLst/>
            </a:prstGeom>
          </p:spPr>
          <p:txBody>
            <a:bodyPr lIns="50800" tIns="50800" rIns="50800" bIns="50800" rtlCol="0" anchor="ctr"/>
            <a:lstStyle/>
            <a:p>
              <a:pPr algn="ctr">
                <a:lnSpc>
                  <a:spcPts val="2799"/>
                </a:lnSpc>
              </a:pPr>
              <a:endParaRPr/>
            </a:p>
          </p:txBody>
        </p:sp>
      </p:grpSp>
      <p:sp>
        <p:nvSpPr>
          <p:cNvPr id="19" name="TextBox 19"/>
          <p:cNvSpPr txBox="1"/>
          <p:nvPr/>
        </p:nvSpPr>
        <p:spPr>
          <a:xfrm>
            <a:off x="1179494" y="7286624"/>
            <a:ext cx="15405943" cy="514385"/>
          </a:xfrm>
          <a:prstGeom prst="rect">
            <a:avLst/>
          </a:prstGeom>
        </p:spPr>
        <p:txBody>
          <a:bodyPr lIns="0" tIns="0" rIns="0" bIns="0" rtlCol="0" anchor="t">
            <a:spAutoFit/>
          </a:bodyPr>
          <a:lstStyle/>
          <a:p>
            <a:pPr algn="l">
              <a:lnSpc>
                <a:spcPts val="4200"/>
              </a:lnSpc>
            </a:pPr>
            <a:r>
              <a:rPr lang="en-US" sz="3000" b="1">
                <a:solidFill>
                  <a:srgbClr val="141412"/>
                </a:solidFill>
                <a:latin typeface="Canva Sans Bold"/>
                <a:ea typeface="Canva Sans Bold"/>
                <a:cs typeface="Canva Sans Bold"/>
                <a:sym typeface="Canva Sans Bold"/>
              </a:rPr>
              <a:t>Interactive Dashboard</a:t>
            </a:r>
          </a:p>
        </p:txBody>
      </p:sp>
      <p:sp>
        <p:nvSpPr>
          <p:cNvPr id="20" name="TextBox 20"/>
          <p:cNvSpPr txBox="1"/>
          <p:nvPr/>
        </p:nvSpPr>
        <p:spPr>
          <a:xfrm>
            <a:off x="1179494" y="5475165"/>
            <a:ext cx="10016214" cy="1458595"/>
          </a:xfrm>
          <a:prstGeom prst="rect">
            <a:avLst/>
          </a:prstGeom>
        </p:spPr>
        <p:txBody>
          <a:bodyPr lIns="0" tIns="0" rIns="0" bIns="0" rtlCol="0" anchor="t">
            <a:spAutoFit/>
          </a:bodyPr>
          <a:lstStyle/>
          <a:p>
            <a:pPr marL="431799" lvl="1" indent="-215899" algn="just">
              <a:lnSpc>
                <a:spcPts val="2799"/>
              </a:lnSpc>
              <a:buFont typeface="Arial"/>
              <a:buChar char="•"/>
            </a:pPr>
            <a:r>
              <a:rPr lang="en-US" sz="1999" b="1">
                <a:solidFill>
                  <a:srgbClr val="141412"/>
                </a:solidFill>
                <a:latin typeface="Helvetica World Bold"/>
                <a:ea typeface="Helvetica World Bold"/>
                <a:cs typeface="Helvetica World Bold"/>
                <a:sym typeface="Helvetica World Bold"/>
              </a:rPr>
              <a:t>PANDAS </a:t>
            </a:r>
            <a:r>
              <a:rPr lang="en-US" sz="1999">
                <a:solidFill>
                  <a:srgbClr val="141412"/>
                </a:solidFill>
                <a:latin typeface="Helvetica World"/>
                <a:ea typeface="Helvetica World"/>
                <a:cs typeface="Helvetica World"/>
                <a:sym typeface="Helvetica World"/>
              </a:rPr>
              <a:t>(DATA LOADING, CLEANING, MERGING &amp; AGGREGATION)</a:t>
            </a:r>
          </a:p>
          <a:p>
            <a:pPr marL="431799" lvl="1" indent="-215899" algn="just">
              <a:lnSpc>
                <a:spcPts val="2799"/>
              </a:lnSpc>
              <a:buFont typeface="Arial"/>
              <a:buChar char="•"/>
            </a:pPr>
            <a:r>
              <a:rPr lang="en-US" sz="1999" b="1">
                <a:solidFill>
                  <a:srgbClr val="141412"/>
                </a:solidFill>
                <a:latin typeface="Helvetica World Bold"/>
                <a:ea typeface="Helvetica World Bold"/>
                <a:cs typeface="Helvetica World Bold"/>
                <a:sym typeface="Helvetica World Bold"/>
              </a:rPr>
              <a:t>NumPy  </a:t>
            </a:r>
            <a:r>
              <a:rPr lang="en-US" sz="1999">
                <a:solidFill>
                  <a:srgbClr val="141412"/>
                </a:solidFill>
                <a:latin typeface="Helvetica World"/>
                <a:ea typeface="Helvetica World"/>
                <a:cs typeface="Helvetica World"/>
                <a:sym typeface="Helvetica World"/>
              </a:rPr>
              <a:t>(Numerical operations &amp; category mapping)</a:t>
            </a:r>
          </a:p>
          <a:p>
            <a:pPr marL="431799" lvl="1" indent="-215899" algn="just">
              <a:lnSpc>
                <a:spcPts val="2799"/>
              </a:lnSpc>
              <a:buFont typeface="Arial"/>
              <a:buChar char="•"/>
            </a:pPr>
            <a:r>
              <a:rPr lang="en-US" sz="1999" b="1">
                <a:solidFill>
                  <a:srgbClr val="141412"/>
                </a:solidFill>
                <a:latin typeface="Helvetica World Bold"/>
                <a:ea typeface="Helvetica World Bold"/>
                <a:cs typeface="Helvetica World Bold"/>
                <a:sym typeface="Helvetica World Bold"/>
              </a:rPr>
              <a:t>Matplotlib &amp; Seaborn </a:t>
            </a:r>
            <a:r>
              <a:rPr lang="en-US" sz="1999">
                <a:solidFill>
                  <a:srgbClr val="141412"/>
                </a:solidFill>
                <a:latin typeface="Helvetica World"/>
                <a:ea typeface="Helvetica World"/>
                <a:cs typeface="Helvetica World"/>
                <a:sym typeface="Helvetica World"/>
              </a:rPr>
              <a:t>(Statistical analysis and visualizations)</a:t>
            </a:r>
          </a:p>
          <a:p>
            <a:pPr algn="just">
              <a:lnSpc>
                <a:spcPts val="2799"/>
              </a:lnSpc>
              <a:spcBef>
                <a:spcPct val="0"/>
              </a:spcBef>
            </a:pPr>
            <a:endParaRPr lang="en-US" sz="1999">
              <a:solidFill>
                <a:srgbClr val="141412"/>
              </a:solidFill>
              <a:latin typeface="Helvetica World"/>
              <a:ea typeface="Helvetica World"/>
              <a:cs typeface="Helvetica World"/>
              <a:sym typeface="Helvetica World"/>
            </a:endParaRPr>
          </a:p>
        </p:txBody>
      </p:sp>
      <p:sp>
        <p:nvSpPr>
          <p:cNvPr id="21" name="TextBox 21"/>
          <p:cNvSpPr txBox="1"/>
          <p:nvPr/>
        </p:nvSpPr>
        <p:spPr>
          <a:xfrm>
            <a:off x="1179494" y="8010523"/>
            <a:ext cx="10989308" cy="1467485"/>
          </a:xfrm>
          <a:prstGeom prst="rect">
            <a:avLst/>
          </a:prstGeom>
        </p:spPr>
        <p:txBody>
          <a:bodyPr lIns="0" tIns="0" rIns="0" bIns="0" rtlCol="0" anchor="t">
            <a:spAutoFit/>
          </a:bodyPr>
          <a:lstStyle/>
          <a:p>
            <a:pPr marL="431799" lvl="1" indent="-215899" algn="just">
              <a:lnSpc>
                <a:spcPts val="2799"/>
              </a:lnSpc>
              <a:buFont typeface="Arial"/>
              <a:buChar char="•"/>
            </a:pPr>
            <a:r>
              <a:rPr lang="en-US" sz="1999" b="1">
                <a:solidFill>
                  <a:srgbClr val="141412"/>
                </a:solidFill>
                <a:latin typeface="Helvetica World Bold"/>
                <a:ea typeface="Helvetica World Bold"/>
                <a:cs typeface="Helvetica World Bold"/>
                <a:sym typeface="Helvetica World Bold"/>
              </a:rPr>
              <a:t>HTML</a:t>
            </a:r>
            <a:r>
              <a:rPr lang="en-US" sz="1999">
                <a:solidFill>
                  <a:srgbClr val="141412"/>
                </a:solidFill>
                <a:latin typeface="Helvetica World"/>
                <a:ea typeface="Helvetica World"/>
                <a:cs typeface="Helvetica World"/>
                <a:sym typeface="Helvetica World"/>
              </a:rPr>
              <a:t>, </a:t>
            </a:r>
            <a:r>
              <a:rPr lang="en-US" sz="1999" b="1">
                <a:solidFill>
                  <a:srgbClr val="141412"/>
                </a:solidFill>
                <a:latin typeface="Helvetica World Bold"/>
                <a:ea typeface="Helvetica World Bold"/>
                <a:cs typeface="Helvetica World Bold"/>
                <a:sym typeface="Helvetica World Bold"/>
              </a:rPr>
              <a:t>CSS </a:t>
            </a:r>
            <a:r>
              <a:rPr lang="en-US" sz="1999">
                <a:solidFill>
                  <a:srgbClr val="141412"/>
                </a:solidFill>
                <a:latin typeface="Helvetica World"/>
                <a:ea typeface="Helvetica World"/>
                <a:cs typeface="Helvetica World"/>
                <a:sym typeface="Helvetica World"/>
              </a:rPr>
              <a:t>&amp; </a:t>
            </a:r>
            <a:r>
              <a:rPr lang="en-US" sz="1999" b="1">
                <a:solidFill>
                  <a:srgbClr val="141412"/>
                </a:solidFill>
                <a:latin typeface="Helvetica World Bold"/>
                <a:ea typeface="Helvetica World Bold"/>
                <a:cs typeface="Helvetica World Bold"/>
                <a:sym typeface="Helvetica World Bold"/>
              </a:rPr>
              <a:t>JAVASCRIPT</a:t>
            </a:r>
          </a:p>
          <a:p>
            <a:pPr marL="431799" lvl="1" indent="-215899" algn="just">
              <a:lnSpc>
                <a:spcPts val="2799"/>
              </a:lnSpc>
              <a:buFont typeface="Arial"/>
              <a:buChar char="•"/>
            </a:pPr>
            <a:r>
              <a:rPr lang="en-US" sz="1999" b="1">
                <a:solidFill>
                  <a:srgbClr val="141412"/>
                </a:solidFill>
                <a:latin typeface="Helvetica World Bold"/>
                <a:ea typeface="Helvetica World Bold"/>
                <a:cs typeface="Helvetica World Bold"/>
                <a:sym typeface="Helvetica World Bold"/>
              </a:rPr>
              <a:t>Chart.js</a:t>
            </a:r>
            <a:r>
              <a:rPr lang="en-US" sz="1999">
                <a:solidFill>
                  <a:srgbClr val="141412"/>
                </a:solidFill>
                <a:latin typeface="Helvetica World"/>
                <a:ea typeface="Helvetica World"/>
                <a:cs typeface="Helvetica World"/>
                <a:sym typeface="Helvetica World"/>
              </a:rPr>
              <a:t> for interactive charts and KPIs</a:t>
            </a:r>
          </a:p>
          <a:p>
            <a:pPr marL="431799" lvl="1" indent="-215899" algn="just">
              <a:lnSpc>
                <a:spcPts val="2799"/>
              </a:lnSpc>
              <a:buFont typeface="Arial"/>
              <a:buChar char="•"/>
            </a:pPr>
            <a:r>
              <a:rPr lang="en-US" sz="1999" b="1">
                <a:solidFill>
                  <a:srgbClr val="141412"/>
                </a:solidFill>
                <a:latin typeface="Helvetica World Bold"/>
                <a:ea typeface="Helvetica World Bold"/>
                <a:cs typeface="Helvetica World Bold"/>
                <a:sym typeface="Helvetica World Bold"/>
              </a:rPr>
              <a:t>IPython.display</a:t>
            </a:r>
            <a:r>
              <a:rPr lang="en-US" sz="1999">
                <a:solidFill>
                  <a:srgbClr val="141412"/>
                </a:solidFill>
                <a:latin typeface="Helvetica World"/>
                <a:ea typeface="Helvetica World"/>
                <a:cs typeface="Helvetica World"/>
                <a:sym typeface="Helvetica World"/>
              </a:rPr>
              <a:t> for rendering dashboard components</a:t>
            </a:r>
          </a:p>
          <a:p>
            <a:pPr algn="just">
              <a:lnSpc>
                <a:spcPts val="2799"/>
              </a:lnSpc>
              <a:spcBef>
                <a:spcPct val="0"/>
              </a:spcBef>
            </a:pPr>
            <a:endParaRPr lang="en-US" sz="1999">
              <a:solidFill>
                <a:srgbClr val="141412"/>
              </a:solidFill>
              <a:latin typeface="Helvetica World"/>
              <a:ea typeface="Helvetica World"/>
              <a:cs typeface="Helvetica World"/>
              <a:sym typeface="Helvetica Wor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grpSp>
        <p:nvGrpSpPr>
          <p:cNvPr id="2" name="Group 2"/>
          <p:cNvGrpSpPr/>
          <p:nvPr/>
        </p:nvGrpSpPr>
        <p:grpSpPr>
          <a:xfrm>
            <a:off x="7758077" y="269875"/>
            <a:ext cx="9501223" cy="301625"/>
            <a:chOff x="0" y="0"/>
            <a:chExt cx="12668297" cy="402167"/>
          </a:xfrm>
        </p:grpSpPr>
        <p:sp>
          <p:nvSpPr>
            <p:cNvPr id="3" name="TextBox 3"/>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4" name="TextBox 4"/>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5" name="TextBox 5"/>
          <p:cNvSpPr txBox="1"/>
          <p:nvPr/>
        </p:nvSpPr>
        <p:spPr>
          <a:xfrm>
            <a:off x="1179494" y="768851"/>
            <a:ext cx="16079806" cy="714374"/>
          </a:xfrm>
          <a:prstGeom prst="rect">
            <a:avLst/>
          </a:prstGeom>
        </p:spPr>
        <p:txBody>
          <a:bodyPr lIns="0" tIns="0" rIns="0" bIns="0" rtlCol="0" anchor="t">
            <a:spAutoFit/>
          </a:bodyPr>
          <a:lstStyle/>
          <a:p>
            <a:pPr marL="0" lvl="0" indent="0" algn="l">
              <a:lnSpc>
                <a:spcPts val="5625"/>
              </a:lnSpc>
              <a:spcBef>
                <a:spcPct val="0"/>
              </a:spcBef>
            </a:pPr>
            <a:r>
              <a:rPr lang="en-US" sz="4500" u="none" strike="noStrike">
                <a:solidFill>
                  <a:srgbClr val="141412"/>
                </a:solidFill>
                <a:latin typeface="Monument Bold"/>
                <a:ea typeface="Monument Bold"/>
                <a:cs typeface="Monument Bold"/>
                <a:sym typeface="Monument Bold"/>
              </a:rPr>
              <a:t>INTRODUCTION - DATASET</a:t>
            </a:r>
          </a:p>
        </p:txBody>
      </p:sp>
      <p:grpSp>
        <p:nvGrpSpPr>
          <p:cNvPr id="6" name="Group 6"/>
          <p:cNvGrpSpPr/>
          <p:nvPr/>
        </p:nvGrpSpPr>
        <p:grpSpPr>
          <a:xfrm>
            <a:off x="4308165" y="4381787"/>
            <a:ext cx="3464570" cy="2432280"/>
            <a:chOff x="0" y="0"/>
            <a:chExt cx="4619427" cy="3243040"/>
          </a:xfrm>
        </p:grpSpPr>
        <p:sp>
          <p:nvSpPr>
            <p:cNvPr id="7" name="Freeform 7"/>
            <p:cNvSpPr/>
            <p:nvPr/>
          </p:nvSpPr>
          <p:spPr>
            <a:xfrm>
              <a:off x="1312694" y="0"/>
              <a:ext cx="1994038" cy="2556458"/>
            </a:xfrm>
            <a:custGeom>
              <a:avLst/>
              <a:gdLst/>
              <a:ahLst/>
              <a:cxnLst/>
              <a:rect l="l" t="t" r="r" b="b"/>
              <a:pathLst>
                <a:path w="1994038" h="2556458">
                  <a:moveTo>
                    <a:pt x="0" y="0"/>
                  </a:moveTo>
                  <a:lnTo>
                    <a:pt x="1994038" y="0"/>
                  </a:lnTo>
                  <a:lnTo>
                    <a:pt x="1994038" y="2556458"/>
                  </a:lnTo>
                  <a:lnTo>
                    <a:pt x="0" y="25564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TextBox 8"/>
            <p:cNvSpPr txBox="1"/>
            <p:nvPr/>
          </p:nvSpPr>
          <p:spPr>
            <a:xfrm>
              <a:off x="0" y="2686357"/>
              <a:ext cx="4619427" cy="556683"/>
            </a:xfrm>
            <a:prstGeom prst="rect">
              <a:avLst/>
            </a:prstGeom>
          </p:spPr>
          <p:txBody>
            <a:bodyPr lIns="0" tIns="0" rIns="0" bIns="0" rtlCol="0" anchor="t">
              <a:spAutoFit/>
            </a:bodyPr>
            <a:lstStyle/>
            <a:p>
              <a:pPr algn="ctr">
                <a:lnSpc>
                  <a:spcPts val="3500"/>
                </a:lnSpc>
              </a:pPr>
              <a:r>
                <a:rPr lang="en-US" sz="2500">
                  <a:solidFill>
                    <a:srgbClr val="141412"/>
                  </a:solidFill>
                  <a:latin typeface="Canva Sans"/>
                  <a:ea typeface="Canva Sans"/>
                  <a:cs typeface="Canva Sans"/>
                  <a:sym typeface="Canva Sans"/>
                </a:rPr>
                <a:t>amazon-purchases.csv</a:t>
              </a:r>
            </a:p>
          </p:txBody>
        </p:sp>
      </p:grpSp>
      <p:grpSp>
        <p:nvGrpSpPr>
          <p:cNvPr id="9" name="Group 9"/>
          <p:cNvGrpSpPr/>
          <p:nvPr/>
        </p:nvGrpSpPr>
        <p:grpSpPr>
          <a:xfrm>
            <a:off x="10515265" y="4381787"/>
            <a:ext cx="3464570" cy="2432280"/>
            <a:chOff x="0" y="0"/>
            <a:chExt cx="4619427" cy="3243040"/>
          </a:xfrm>
        </p:grpSpPr>
        <p:sp>
          <p:nvSpPr>
            <p:cNvPr id="10" name="Freeform 10"/>
            <p:cNvSpPr/>
            <p:nvPr/>
          </p:nvSpPr>
          <p:spPr>
            <a:xfrm>
              <a:off x="1312694" y="0"/>
              <a:ext cx="1994038" cy="2556458"/>
            </a:xfrm>
            <a:custGeom>
              <a:avLst/>
              <a:gdLst/>
              <a:ahLst/>
              <a:cxnLst/>
              <a:rect l="l" t="t" r="r" b="b"/>
              <a:pathLst>
                <a:path w="1994038" h="2556458">
                  <a:moveTo>
                    <a:pt x="0" y="0"/>
                  </a:moveTo>
                  <a:lnTo>
                    <a:pt x="1994038" y="0"/>
                  </a:lnTo>
                  <a:lnTo>
                    <a:pt x="1994038" y="2556458"/>
                  </a:lnTo>
                  <a:lnTo>
                    <a:pt x="0" y="25564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TextBox 11"/>
            <p:cNvSpPr txBox="1"/>
            <p:nvPr/>
          </p:nvSpPr>
          <p:spPr>
            <a:xfrm>
              <a:off x="0" y="2686357"/>
              <a:ext cx="4619427" cy="556683"/>
            </a:xfrm>
            <a:prstGeom prst="rect">
              <a:avLst/>
            </a:prstGeom>
          </p:spPr>
          <p:txBody>
            <a:bodyPr lIns="0" tIns="0" rIns="0" bIns="0" rtlCol="0" anchor="t">
              <a:spAutoFit/>
            </a:bodyPr>
            <a:lstStyle/>
            <a:p>
              <a:pPr algn="ctr">
                <a:lnSpc>
                  <a:spcPts val="3500"/>
                </a:lnSpc>
              </a:pPr>
              <a:r>
                <a:rPr lang="en-US" sz="2500">
                  <a:solidFill>
                    <a:srgbClr val="141412"/>
                  </a:solidFill>
                  <a:latin typeface="Canva Sans"/>
                  <a:ea typeface="Canva Sans"/>
                  <a:cs typeface="Canva Sans"/>
                  <a:sym typeface="Canva Sans"/>
                </a:rPr>
                <a:t>survey.csv</a:t>
              </a:r>
            </a:p>
          </p:txBody>
        </p:sp>
      </p:grpSp>
      <p:sp>
        <p:nvSpPr>
          <p:cNvPr id="12" name="TextBox 12"/>
          <p:cNvSpPr txBox="1"/>
          <p:nvPr/>
        </p:nvSpPr>
        <p:spPr>
          <a:xfrm>
            <a:off x="1179494" y="2366376"/>
            <a:ext cx="15405943" cy="1581149"/>
          </a:xfrm>
          <a:prstGeom prst="rect">
            <a:avLst/>
          </a:prstGeom>
        </p:spPr>
        <p:txBody>
          <a:bodyPr lIns="0" tIns="0" rIns="0" bIns="0" rtlCol="0" anchor="t">
            <a:spAutoFit/>
          </a:bodyPr>
          <a:lstStyle/>
          <a:p>
            <a:pPr algn="l">
              <a:lnSpc>
                <a:spcPts val="4200"/>
              </a:lnSpc>
            </a:pPr>
            <a:r>
              <a:rPr lang="en-US" sz="3000" b="1">
                <a:solidFill>
                  <a:srgbClr val="141412"/>
                </a:solidFill>
                <a:latin typeface="Canva Sans Bold"/>
                <a:ea typeface="Canva Sans Bold"/>
                <a:cs typeface="Canva Sans Bold"/>
                <a:sym typeface="Canva Sans Bold"/>
              </a:rPr>
              <a:t>Open e-commerce 1.0: Five years of crowdsourced U.S. Amazon purchase histories with user demographics¹</a:t>
            </a:r>
          </a:p>
          <a:p>
            <a:pPr algn="l">
              <a:lnSpc>
                <a:spcPts val="4200"/>
              </a:lnSpc>
            </a:pPr>
            <a:endParaRPr lang="en-US" sz="3000" b="1">
              <a:solidFill>
                <a:srgbClr val="141412"/>
              </a:solidFill>
              <a:latin typeface="Canva Sans Bold"/>
              <a:ea typeface="Canva Sans Bold"/>
              <a:cs typeface="Canva Sans Bold"/>
              <a:sym typeface="Canva Sans Bold"/>
            </a:endParaRPr>
          </a:p>
        </p:txBody>
      </p:sp>
      <p:sp>
        <p:nvSpPr>
          <p:cNvPr id="13" name="TextBox 13"/>
          <p:cNvSpPr txBox="1"/>
          <p:nvPr/>
        </p:nvSpPr>
        <p:spPr>
          <a:xfrm>
            <a:off x="314325" y="9417354"/>
            <a:ext cx="14134020" cy="1044575"/>
          </a:xfrm>
          <a:prstGeom prst="rect">
            <a:avLst/>
          </a:prstGeom>
        </p:spPr>
        <p:txBody>
          <a:bodyPr lIns="0" tIns="0" rIns="0" bIns="0" rtlCol="0" anchor="t">
            <a:spAutoFit/>
          </a:bodyPr>
          <a:lstStyle/>
          <a:p>
            <a:pPr algn="l">
              <a:lnSpc>
                <a:spcPts val="2799"/>
              </a:lnSpc>
              <a:spcBef>
                <a:spcPct val="0"/>
              </a:spcBef>
            </a:pPr>
            <a:r>
              <a:rPr lang="en-US" sz="1999">
                <a:solidFill>
                  <a:srgbClr val="141412"/>
                </a:solidFill>
                <a:latin typeface="Arial"/>
                <a:ea typeface="Arial"/>
                <a:cs typeface="Arial"/>
                <a:sym typeface="Arial"/>
              </a:rPr>
              <a:t>¹Berke, A., Calacci, D., Mahari, R., Yabe, T., Larson, K., Pentland, S., 2023. Open e-commerce 1.0: Five years of crowdsourced U.S. Amazon purchase histories with user demographics. https://doi.org/10.7910/DVN/YGLYDY</a:t>
            </a:r>
          </a:p>
          <a:p>
            <a:pPr algn="l">
              <a:lnSpc>
                <a:spcPts val="2799"/>
              </a:lnSpc>
              <a:spcBef>
                <a:spcPct val="0"/>
              </a:spcBef>
            </a:pPr>
            <a:endParaRPr lang="en-US" sz="1999">
              <a:solidFill>
                <a:srgbClr val="141412"/>
              </a:solidFill>
              <a:latin typeface="Arial"/>
              <a:ea typeface="Arial"/>
              <a:cs typeface="Arial"/>
              <a:sym typeface="Arial"/>
            </a:endParaRPr>
          </a:p>
        </p:txBody>
      </p:sp>
      <p:sp>
        <p:nvSpPr>
          <p:cNvPr id="14" name="TextBox 14"/>
          <p:cNvSpPr txBox="1"/>
          <p:nvPr/>
        </p:nvSpPr>
        <p:spPr>
          <a:xfrm>
            <a:off x="4213510" y="7223642"/>
            <a:ext cx="3653879" cy="682625"/>
          </a:xfrm>
          <a:prstGeom prst="rect">
            <a:avLst/>
          </a:prstGeom>
        </p:spPr>
        <p:txBody>
          <a:bodyPr lIns="0" tIns="0" rIns="0" bIns="0" rtlCol="0" anchor="t">
            <a:spAutoFit/>
          </a:bodyPr>
          <a:lstStyle/>
          <a:p>
            <a:pPr algn="ctr">
              <a:lnSpc>
                <a:spcPts val="2799"/>
              </a:lnSpc>
            </a:pPr>
            <a:r>
              <a:rPr lang="en-US" sz="1999">
                <a:solidFill>
                  <a:srgbClr val="141412"/>
                </a:solidFill>
                <a:latin typeface="Helvetica World"/>
                <a:ea typeface="Helvetica World"/>
                <a:cs typeface="Helvetica World"/>
                <a:sym typeface="Helvetica World"/>
              </a:rPr>
              <a:t>ORDER, SALES INFORMATION</a:t>
            </a:r>
          </a:p>
          <a:p>
            <a:pPr algn="ctr">
              <a:lnSpc>
                <a:spcPts val="2799"/>
              </a:lnSpc>
              <a:spcBef>
                <a:spcPct val="0"/>
              </a:spcBef>
            </a:pPr>
            <a:r>
              <a:rPr lang="en-US" sz="1999">
                <a:solidFill>
                  <a:srgbClr val="141412"/>
                </a:solidFill>
                <a:latin typeface="Helvetica World"/>
                <a:ea typeface="Helvetica World"/>
                <a:cs typeface="Helvetica World"/>
                <a:sym typeface="Helvetica World"/>
              </a:rPr>
              <a:t>CATEGORIES</a:t>
            </a:r>
          </a:p>
        </p:txBody>
      </p:sp>
      <p:sp>
        <p:nvSpPr>
          <p:cNvPr id="15" name="TextBox 15"/>
          <p:cNvSpPr txBox="1"/>
          <p:nvPr/>
        </p:nvSpPr>
        <p:spPr>
          <a:xfrm>
            <a:off x="10375218" y="7223642"/>
            <a:ext cx="3744664" cy="682625"/>
          </a:xfrm>
          <a:prstGeom prst="rect">
            <a:avLst/>
          </a:prstGeom>
        </p:spPr>
        <p:txBody>
          <a:bodyPr lIns="0" tIns="0" rIns="0" bIns="0" rtlCol="0" anchor="t">
            <a:spAutoFit/>
          </a:bodyPr>
          <a:lstStyle/>
          <a:p>
            <a:pPr algn="ctr">
              <a:lnSpc>
                <a:spcPts val="2799"/>
              </a:lnSpc>
            </a:pPr>
            <a:r>
              <a:rPr lang="en-US" sz="1999">
                <a:solidFill>
                  <a:srgbClr val="141412"/>
                </a:solidFill>
                <a:latin typeface="Helvetica World"/>
                <a:ea typeface="Helvetica World"/>
                <a:cs typeface="Helvetica World"/>
                <a:sym typeface="Helvetica World"/>
              </a:rPr>
              <a:t>DEMOGRAPHIC DATA</a:t>
            </a:r>
          </a:p>
          <a:p>
            <a:pPr algn="ctr">
              <a:lnSpc>
                <a:spcPts val="2799"/>
              </a:lnSpc>
              <a:spcBef>
                <a:spcPct val="0"/>
              </a:spcBef>
            </a:pPr>
            <a:r>
              <a:rPr lang="en-US" sz="1999">
                <a:solidFill>
                  <a:srgbClr val="141412"/>
                </a:solidFill>
                <a:latin typeface="Helvetica World"/>
                <a:ea typeface="Helvetica World"/>
                <a:cs typeface="Helvetica World"/>
                <a:sym typeface="Helvetica World"/>
              </a:rPr>
              <a:t>CONSUMER LEVEL VARIABLES</a:t>
            </a:r>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grpSp>
        <p:nvGrpSpPr>
          <p:cNvPr id="2" name="Group 2"/>
          <p:cNvGrpSpPr/>
          <p:nvPr/>
        </p:nvGrpSpPr>
        <p:grpSpPr>
          <a:xfrm>
            <a:off x="7758077" y="269875"/>
            <a:ext cx="9501223" cy="301625"/>
            <a:chOff x="0" y="0"/>
            <a:chExt cx="12668297" cy="402167"/>
          </a:xfrm>
        </p:grpSpPr>
        <p:sp>
          <p:nvSpPr>
            <p:cNvPr id="3" name="TextBox 3"/>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4" name="TextBox 4"/>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5" name="TextBox 5"/>
          <p:cNvSpPr txBox="1"/>
          <p:nvPr/>
        </p:nvSpPr>
        <p:spPr>
          <a:xfrm>
            <a:off x="1179494" y="768851"/>
            <a:ext cx="16079806" cy="714374"/>
          </a:xfrm>
          <a:prstGeom prst="rect">
            <a:avLst/>
          </a:prstGeom>
        </p:spPr>
        <p:txBody>
          <a:bodyPr lIns="0" tIns="0" rIns="0" bIns="0" rtlCol="0" anchor="t">
            <a:spAutoFit/>
          </a:bodyPr>
          <a:lstStyle/>
          <a:p>
            <a:pPr marL="0" lvl="0" indent="0" algn="l">
              <a:lnSpc>
                <a:spcPts val="5625"/>
              </a:lnSpc>
              <a:spcBef>
                <a:spcPct val="0"/>
              </a:spcBef>
            </a:pPr>
            <a:r>
              <a:rPr lang="en-US" sz="4500" u="none" strike="noStrike">
                <a:solidFill>
                  <a:srgbClr val="141412"/>
                </a:solidFill>
                <a:latin typeface="Monument Bold"/>
                <a:ea typeface="Monument Bold"/>
                <a:cs typeface="Monument Bold"/>
                <a:sym typeface="Monument Bold"/>
              </a:rPr>
              <a:t>BUSINESS PROBLEM</a:t>
            </a:r>
          </a:p>
        </p:txBody>
      </p:sp>
      <p:sp>
        <p:nvSpPr>
          <p:cNvPr id="6" name="TextBox 6"/>
          <p:cNvSpPr txBox="1"/>
          <p:nvPr/>
        </p:nvSpPr>
        <p:spPr>
          <a:xfrm>
            <a:off x="1028700" y="1813455"/>
            <a:ext cx="16227326" cy="1780540"/>
          </a:xfrm>
          <a:prstGeom prst="rect">
            <a:avLst/>
          </a:prstGeom>
        </p:spPr>
        <p:txBody>
          <a:bodyPr lIns="0" tIns="0" rIns="0" bIns="0" rtlCol="0" anchor="t">
            <a:spAutoFit/>
          </a:bodyPr>
          <a:lstStyle/>
          <a:p>
            <a:pPr marL="734059" lvl="1" indent="-367030" algn="l">
              <a:lnSpc>
                <a:spcPts val="4759"/>
              </a:lnSpc>
              <a:buAutoNum type="arabicPeriod"/>
            </a:pPr>
            <a:r>
              <a:rPr lang="en-US" sz="3399">
                <a:solidFill>
                  <a:srgbClr val="141412"/>
                </a:solidFill>
                <a:latin typeface="Canva Sans"/>
                <a:ea typeface="Canva Sans"/>
                <a:cs typeface="Canva Sans"/>
                <a:sym typeface="Canva Sans"/>
              </a:rPr>
              <a:t> How do demographic factors define the highest-value customers</a:t>
            </a:r>
          </a:p>
          <a:p>
            <a:pPr marL="734059" lvl="1" indent="-367030" algn="l">
              <a:lnSpc>
                <a:spcPts val="4759"/>
              </a:lnSpc>
              <a:buAutoNum type="arabicPeriod"/>
            </a:pPr>
            <a:r>
              <a:rPr lang="en-US" sz="3399">
                <a:solidFill>
                  <a:srgbClr val="141412"/>
                </a:solidFill>
                <a:latin typeface="Canva Sans"/>
                <a:ea typeface="Canva Sans"/>
                <a:cs typeface="Canva Sans"/>
                <a:sym typeface="Canva Sans"/>
              </a:rPr>
              <a:t> Which geographic locations (US state level) drive customer value the most</a:t>
            </a:r>
          </a:p>
          <a:p>
            <a:pPr marL="734059" lvl="1" indent="-367030" algn="l">
              <a:lnSpc>
                <a:spcPts val="4759"/>
              </a:lnSpc>
              <a:buAutoNum type="arabicPeriod"/>
            </a:pPr>
            <a:r>
              <a:rPr lang="en-US" sz="3399">
                <a:solidFill>
                  <a:srgbClr val="141412"/>
                </a:solidFill>
                <a:latin typeface="Canva Sans"/>
                <a:ea typeface="Canva Sans"/>
                <a:cs typeface="Canva Sans"/>
                <a:sym typeface="Canva Sans"/>
              </a:rPr>
              <a:t> Which top-selling products can be identified </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grpSp>
        <p:nvGrpSpPr>
          <p:cNvPr id="2" name="Group 2"/>
          <p:cNvGrpSpPr/>
          <p:nvPr/>
        </p:nvGrpSpPr>
        <p:grpSpPr>
          <a:xfrm>
            <a:off x="3240611" y="2356379"/>
            <a:ext cx="2002346" cy="1405734"/>
            <a:chOff x="0" y="0"/>
            <a:chExt cx="2669794" cy="1874312"/>
          </a:xfrm>
        </p:grpSpPr>
        <p:sp>
          <p:nvSpPr>
            <p:cNvPr id="3" name="Freeform 3"/>
            <p:cNvSpPr/>
            <p:nvPr/>
          </p:nvSpPr>
          <p:spPr>
            <a:xfrm>
              <a:off x="758671" y="0"/>
              <a:ext cx="1152453" cy="1477503"/>
            </a:xfrm>
            <a:custGeom>
              <a:avLst/>
              <a:gdLst/>
              <a:ahLst/>
              <a:cxnLst/>
              <a:rect l="l" t="t" r="r" b="b"/>
              <a:pathLst>
                <a:path w="1152453" h="1477503">
                  <a:moveTo>
                    <a:pt x="0" y="0"/>
                  </a:moveTo>
                  <a:lnTo>
                    <a:pt x="1152452" y="0"/>
                  </a:lnTo>
                  <a:lnTo>
                    <a:pt x="1152452" y="1477503"/>
                  </a:lnTo>
                  <a:lnTo>
                    <a:pt x="0" y="14775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0" y="1557033"/>
              <a:ext cx="2669794" cy="317280"/>
            </a:xfrm>
            <a:prstGeom prst="rect">
              <a:avLst/>
            </a:prstGeom>
          </p:spPr>
          <p:txBody>
            <a:bodyPr lIns="0" tIns="0" rIns="0" bIns="0" rtlCol="0" anchor="t">
              <a:spAutoFit/>
            </a:bodyPr>
            <a:lstStyle/>
            <a:p>
              <a:pPr algn="ctr">
                <a:lnSpc>
                  <a:spcPts val="2022"/>
                </a:lnSpc>
              </a:pPr>
              <a:r>
                <a:rPr lang="en-US" sz="1444">
                  <a:solidFill>
                    <a:srgbClr val="141412"/>
                  </a:solidFill>
                  <a:latin typeface="Canva Sans"/>
                  <a:ea typeface="Canva Sans"/>
                  <a:cs typeface="Canva Sans"/>
                  <a:sym typeface="Canva Sans"/>
                </a:rPr>
                <a:t>amazon-purchases.csv</a:t>
              </a:r>
            </a:p>
          </p:txBody>
        </p:sp>
      </p:grpSp>
      <p:grpSp>
        <p:nvGrpSpPr>
          <p:cNvPr id="5" name="Group 5"/>
          <p:cNvGrpSpPr/>
          <p:nvPr/>
        </p:nvGrpSpPr>
        <p:grpSpPr>
          <a:xfrm>
            <a:off x="3181877" y="4949023"/>
            <a:ext cx="2061080" cy="1446968"/>
            <a:chOff x="0" y="0"/>
            <a:chExt cx="2748106" cy="1929291"/>
          </a:xfrm>
        </p:grpSpPr>
        <p:sp>
          <p:nvSpPr>
            <p:cNvPr id="6" name="Freeform 6"/>
            <p:cNvSpPr/>
            <p:nvPr/>
          </p:nvSpPr>
          <p:spPr>
            <a:xfrm>
              <a:off x="780925" y="0"/>
              <a:ext cx="1186257" cy="1520842"/>
            </a:xfrm>
            <a:custGeom>
              <a:avLst/>
              <a:gdLst/>
              <a:ahLst/>
              <a:cxnLst/>
              <a:rect l="l" t="t" r="r" b="b"/>
              <a:pathLst>
                <a:path w="1186257" h="1520842">
                  <a:moveTo>
                    <a:pt x="0" y="0"/>
                  </a:moveTo>
                  <a:lnTo>
                    <a:pt x="1186257" y="0"/>
                  </a:lnTo>
                  <a:lnTo>
                    <a:pt x="1186257" y="1520842"/>
                  </a:lnTo>
                  <a:lnTo>
                    <a:pt x="0" y="152084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0" y="1603543"/>
              <a:ext cx="2748106" cy="325748"/>
            </a:xfrm>
            <a:prstGeom prst="rect">
              <a:avLst/>
            </a:prstGeom>
          </p:spPr>
          <p:txBody>
            <a:bodyPr lIns="0" tIns="0" rIns="0" bIns="0" rtlCol="0" anchor="t">
              <a:spAutoFit/>
            </a:bodyPr>
            <a:lstStyle/>
            <a:p>
              <a:pPr algn="ctr">
                <a:lnSpc>
                  <a:spcPts val="2082"/>
                </a:lnSpc>
              </a:pPr>
              <a:r>
                <a:rPr lang="en-US" sz="1487">
                  <a:solidFill>
                    <a:srgbClr val="141412"/>
                  </a:solidFill>
                  <a:latin typeface="Canva Sans"/>
                  <a:ea typeface="Canva Sans"/>
                  <a:cs typeface="Canva Sans"/>
                  <a:sym typeface="Canva Sans"/>
                </a:rPr>
                <a:t>survey.csv</a:t>
              </a:r>
            </a:p>
          </p:txBody>
        </p:sp>
      </p:grpSp>
      <p:sp>
        <p:nvSpPr>
          <p:cNvPr id="8" name="Freeform 8"/>
          <p:cNvSpPr/>
          <p:nvPr/>
        </p:nvSpPr>
        <p:spPr>
          <a:xfrm>
            <a:off x="7308081" y="3804579"/>
            <a:ext cx="1101979" cy="1101979"/>
          </a:xfrm>
          <a:custGeom>
            <a:avLst/>
            <a:gdLst/>
            <a:ahLst/>
            <a:cxnLst/>
            <a:rect l="l" t="t" r="r" b="b"/>
            <a:pathLst>
              <a:path w="1101979" h="1101979">
                <a:moveTo>
                  <a:pt x="0" y="0"/>
                </a:moveTo>
                <a:lnTo>
                  <a:pt x="1101978" y="0"/>
                </a:lnTo>
                <a:lnTo>
                  <a:pt x="1101978" y="1101978"/>
                </a:lnTo>
                <a:lnTo>
                  <a:pt x="0" y="1101978"/>
                </a:lnTo>
                <a:lnTo>
                  <a:pt x="0" y="0"/>
                </a:lnTo>
                <a:close/>
              </a:path>
            </a:pathLst>
          </a:custGeom>
          <a:blipFill>
            <a:blip r:embed="rId4"/>
            <a:stretch>
              <a:fillRect/>
            </a:stretch>
          </a:blipFill>
        </p:spPr>
        <p:txBody>
          <a:bodyPr/>
          <a:lstStyle/>
          <a:p>
            <a:endParaRPr lang="en-IN"/>
          </a:p>
        </p:txBody>
      </p:sp>
      <p:sp>
        <p:nvSpPr>
          <p:cNvPr id="9" name="AutoShape 9"/>
          <p:cNvSpPr/>
          <p:nvPr/>
        </p:nvSpPr>
        <p:spPr>
          <a:xfrm>
            <a:off x="5242957" y="3059246"/>
            <a:ext cx="2110000" cy="1344404"/>
          </a:xfrm>
          <a:prstGeom prst="line">
            <a:avLst/>
          </a:prstGeom>
          <a:ln w="47625" cap="flat">
            <a:solidFill>
              <a:srgbClr val="545454"/>
            </a:solidFill>
            <a:prstDash val="solid"/>
            <a:headEnd type="none" w="sm" len="sm"/>
            <a:tailEnd type="oval" w="lg" len="lg"/>
          </a:ln>
        </p:spPr>
        <p:txBody>
          <a:bodyPr/>
          <a:lstStyle/>
          <a:p>
            <a:endParaRPr lang="en-IN"/>
          </a:p>
        </p:txBody>
      </p:sp>
      <p:sp>
        <p:nvSpPr>
          <p:cNvPr id="10" name="AutoShape 10"/>
          <p:cNvSpPr/>
          <p:nvPr/>
        </p:nvSpPr>
        <p:spPr>
          <a:xfrm flipV="1">
            <a:off x="5242957" y="4309673"/>
            <a:ext cx="2110000" cy="1362834"/>
          </a:xfrm>
          <a:prstGeom prst="line">
            <a:avLst/>
          </a:prstGeom>
          <a:ln w="47625" cap="flat">
            <a:solidFill>
              <a:srgbClr val="545454"/>
            </a:solidFill>
            <a:prstDash val="solid"/>
            <a:headEnd type="none" w="sm" len="sm"/>
            <a:tailEnd type="oval" w="lg" len="lg"/>
          </a:ln>
        </p:spPr>
        <p:txBody>
          <a:bodyPr/>
          <a:lstStyle/>
          <a:p>
            <a:endParaRPr lang="en-IN"/>
          </a:p>
        </p:txBody>
      </p:sp>
      <p:grpSp>
        <p:nvGrpSpPr>
          <p:cNvPr id="11" name="Group 11"/>
          <p:cNvGrpSpPr/>
          <p:nvPr/>
        </p:nvGrpSpPr>
        <p:grpSpPr>
          <a:xfrm>
            <a:off x="7758077" y="269875"/>
            <a:ext cx="9501223" cy="301625"/>
            <a:chOff x="0" y="0"/>
            <a:chExt cx="12668297" cy="402167"/>
          </a:xfrm>
        </p:grpSpPr>
        <p:sp>
          <p:nvSpPr>
            <p:cNvPr id="12" name="TextBox 12"/>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13" name="TextBox 13"/>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14" name="TextBox 14"/>
          <p:cNvSpPr txBox="1"/>
          <p:nvPr/>
        </p:nvSpPr>
        <p:spPr>
          <a:xfrm>
            <a:off x="1179494" y="768851"/>
            <a:ext cx="16079806" cy="714374"/>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DATA INTEGRATION AND PREPROCESSING</a:t>
            </a:r>
          </a:p>
        </p:txBody>
      </p:sp>
      <p:grpSp>
        <p:nvGrpSpPr>
          <p:cNvPr id="15" name="Group 15"/>
          <p:cNvGrpSpPr/>
          <p:nvPr/>
        </p:nvGrpSpPr>
        <p:grpSpPr>
          <a:xfrm>
            <a:off x="6570479" y="4793274"/>
            <a:ext cx="1885439" cy="407105"/>
            <a:chOff x="0" y="0"/>
            <a:chExt cx="2513918" cy="542807"/>
          </a:xfrm>
        </p:grpSpPr>
        <p:grpSp>
          <p:nvGrpSpPr>
            <p:cNvPr id="16" name="Group 16"/>
            <p:cNvGrpSpPr/>
            <p:nvPr/>
          </p:nvGrpSpPr>
          <p:grpSpPr>
            <a:xfrm>
              <a:off x="0" y="0"/>
              <a:ext cx="2513918" cy="542807"/>
              <a:chOff x="0" y="0"/>
              <a:chExt cx="508688" cy="109836"/>
            </a:xfrm>
          </p:grpSpPr>
          <p:sp>
            <p:nvSpPr>
              <p:cNvPr id="17" name="Freeform 17"/>
              <p:cNvSpPr/>
              <p:nvPr/>
            </p:nvSpPr>
            <p:spPr>
              <a:xfrm>
                <a:off x="0" y="0"/>
                <a:ext cx="508688" cy="109836"/>
              </a:xfrm>
              <a:custGeom>
                <a:avLst/>
                <a:gdLst/>
                <a:ahLst/>
                <a:cxnLst/>
                <a:rect l="l" t="t" r="r" b="b"/>
                <a:pathLst>
                  <a:path w="508688" h="109836">
                    <a:moveTo>
                      <a:pt x="54918" y="0"/>
                    </a:moveTo>
                    <a:lnTo>
                      <a:pt x="453770" y="0"/>
                    </a:lnTo>
                    <a:cubicBezTo>
                      <a:pt x="484100" y="0"/>
                      <a:pt x="508688" y="24588"/>
                      <a:pt x="508688" y="54918"/>
                    </a:cubicBezTo>
                    <a:lnTo>
                      <a:pt x="508688" y="54918"/>
                    </a:lnTo>
                    <a:cubicBezTo>
                      <a:pt x="508688" y="69483"/>
                      <a:pt x="502902" y="83452"/>
                      <a:pt x="492603" y="93751"/>
                    </a:cubicBezTo>
                    <a:cubicBezTo>
                      <a:pt x="482303" y="104050"/>
                      <a:pt x="468335" y="109836"/>
                      <a:pt x="453770" y="109836"/>
                    </a:cubicBezTo>
                    <a:lnTo>
                      <a:pt x="54918" y="109836"/>
                    </a:lnTo>
                    <a:cubicBezTo>
                      <a:pt x="24588" y="109836"/>
                      <a:pt x="0" y="85249"/>
                      <a:pt x="0" y="54918"/>
                    </a:cubicBezTo>
                    <a:lnTo>
                      <a:pt x="0" y="54918"/>
                    </a:lnTo>
                    <a:cubicBezTo>
                      <a:pt x="0" y="24588"/>
                      <a:pt x="24588" y="0"/>
                      <a:pt x="54918" y="0"/>
                    </a:cubicBezTo>
                    <a:close/>
                  </a:path>
                </a:pathLst>
              </a:custGeom>
              <a:solidFill>
                <a:srgbClr val="92A4C9"/>
              </a:solidFill>
            </p:spPr>
            <p:txBody>
              <a:bodyPr/>
              <a:lstStyle/>
              <a:p>
                <a:endParaRPr lang="en-IN"/>
              </a:p>
            </p:txBody>
          </p:sp>
          <p:sp>
            <p:nvSpPr>
              <p:cNvPr id="18" name="TextBox 18"/>
              <p:cNvSpPr txBox="1"/>
              <p:nvPr/>
            </p:nvSpPr>
            <p:spPr>
              <a:xfrm>
                <a:off x="0" y="-38100"/>
                <a:ext cx="508688" cy="147936"/>
              </a:xfrm>
              <a:prstGeom prst="rect">
                <a:avLst/>
              </a:prstGeom>
            </p:spPr>
            <p:txBody>
              <a:bodyPr lIns="50800" tIns="50800" rIns="50800" bIns="50800" rtlCol="0" anchor="ctr"/>
              <a:lstStyle/>
              <a:p>
                <a:pPr algn="ctr">
                  <a:lnSpc>
                    <a:spcPts val="2800"/>
                  </a:lnSpc>
                </a:pPr>
                <a:endParaRPr/>
              </a:p>
            </p:txBody>
          </p:sp>
        </p:grpSp>
        <p:sp>
          <p:nvSpPr>
            <p:cNvPr id="19" name="Freeform 19"/>
            <p:cNvSpPr/>
            <p:nvPr/>
          </p:nvSpPr>
          <p:spPr>
            <a:xfrm>
              <a:off x="61894" y="60741"/>
              <a:ext cx="398324" cy="398324"/>
            </a:xfrm>
            <a:custGeom>
              <a:avLst/>
              <a:gdLst/>
              <a:ahLst/>
              <a:cxnLst/>
              <a:rect l="l" t="t" r="r" b="b"/>
              <a:pathLst>
                <a:path w="398324" h="398324">
                  <a:moveTo>
                    <a:pt x="0" y="0"/>
                  </a:moveTo>
                  <a:lnTo>
                    <a:pt x="398325" y="0"/>
                  </a:lnTo>
                  <a:lnTo>
                    <a:pt x="398325" y="398324"/>
                  </a:lnTo>
                  <a:lnTo>
                    <a:pt x="0" y="398324"/>
                  </a:lnTo>
                  <a:lnTo>
                    <a:pt x="0" y="0"/>
                  </a:lnTo>
                  <a:close/>
                </a:path>
              </a:pathLst>
            </a:custGeom>
            <a:blipFill>
              <a:blip r:embed="rId5"/>
              <a:stretch>
                <a:fillRect/>
              </a:stretch>
            </a:blipFill>
          </p:spPr>
          <p:txBody>
            <a:bodyPr/>
            <a:lstStyle/>
            <a:p>
              <a:endParaRPr lang="en-IN"/>
            </a:p>
          </p:txBody>
        </p:sp>
        <p:sp>
          <p:nvSpPr>
            <p:cNvPr id="20" name="TextBox 20"/>
            <p:cNvSpPr txBox="1"/>
            <p:nvPr/>
          </p:nvSpPr>
          <p:spPr>
            <a:xfrm>
              <a:off x="460219" y="115214"/>
              <a:ext cx="1935967" cy="270328"/>
            </a:xfrm>
            <a:prstGeom prst="rect">
              <a:avLst/>
            </a:prstGeom>
          </p:spPr>
          <p:txBody>
            <a:bodyPr lIns="0" tIns="0" rIns="0" bIns="0" rtlCol="0" anchor="t">
              <a:spAutoFit/>
            </a:bodyPr>
            <a:lstStyle/>
            <a:p>
              <a:pPr algn="ctr">
                <a:lnSpc>
                  <a:spcPts val="1776"/>
                </a:lnSpc>
                <a:spcBef>
                  <a:spcPct val="0"/>
                </a:spcBef>
              </a:pPr>
              <a:r>
                <a:rPr lang="en-US" sz="1269">
                  <a:solidFill>
                    <a:srgbClr val="1D294F"/>
                  </a:solidFill>
                  <a:latin typeface="Helvetica World"/>
                  <a:ea typeface="Helvetica World"/>
                  <a:cs typeface="Helvetica World"/>
                  <a:sym typeface="Helvetica World"/>
                </a:rPr>
                <a:t> Survey ResponseID</a:t>
              </a:r>
            </a:p>
          </p:txBody>
        </p:sp>
      </p:grpSp>
      <p:sp>
        <p:nvSpPr>
          <p:cNvPr id="21" name="AutoShape 21"/>
          <p:cNvSpPr/>
          <p:nvPr/>
        </p:nvSpPr>
        <p:spPr>
          <a:xfrm>
            <a:off x="8410059" y="4355568"/>
            <a:ext cx="2248195" cy="0"/>
          </a:xfrm>
          <a:prstGeom prst="line">
            <a:avLst/>
          </a:prstGeom>
          <a:ln w="47625" cap="flat">
            <a:solidFill>
              <a:srgbClr val="545454"/>
            </a:solidFill>
            <a:prstDash val="solid"/>
            <a:headEnd type="none" w="sm" len="sm"/>
            <a:tailEnd type="oval" w="lg" len="lg"/>
          </a:ln>
        </p:spPr>
        <p:txBody>
          <a:bodyPr/>
          <a:lstStyle/>
          <a:p>
            <a:endParaRPr lang="en-IN"/>
          </a:p>
        </p:txBody>
      </p:sp>
      <p:sp>
        <p:nvSpPr>
          <p:cNvPr id="22" name="Freeform 22"/>
          <p:cNvSpPr/>
          <p:nvPr/>
        </p:nvSpPr>
        <p:spPr>
          <a:xfrm>
            <a:off x="10658255" y="3804579"/>
            <a:ext cx="1101979" cy="1101979"/>
          </a:xfrm>
          <a:custGeom>
            <a:avLst/>
            <a:gdLst/>
            <a:ahLst/>
            <a:cxnLst/>
            <a:rect l="l" t="t" r="r" b="b"/>
            <a:pathLst>
              <a:path w="1101979" h="1101979">
                <a:moveTo>
                  <a:pt x="0" y="0"/>
                </a:moveTo>
                <a:lnTo>
                  <a:pt x="1101978" y="0"/>
                </a:lnTo>
                <a:lnTo>
                  <a:pt x="1101978" y="1101978"/>
                </a:lnTo>
                <a:lnTo>
                  <a:pt x="0" y="1101978"/>
                </a:lnTo>
                <a:lnTo>
                  <a:pt x="0" y="0"/>
                </a:lnTo>
                <a:close/>
              </a:path>
            </a:pathLst>
          </a:custGeom>
          <a:blipFill>
            <a:blip r:embed="rId4"/>
            <a:stretch>
              <a:fillRect/>
            </a:stretch>
          </a:blipFill>
        </p:spPr>
        <p:txBody>
          <a:bodyPr/>
          <a:lstStyle/>
          <a:p>
            <a:endParaRPr lang="en-IN"/>
          </a:p>
        </p:txBody>
      </p:sp>
      <p:sp>
        <p:nvSpPr>
          <p:cNvPr id="23" name="AutoShape 23"/>
          <p:cNvSpPr/>
          <p:nvPr/>
        </p:nvSpPr>
        <p:spPr>
          <a:xfrm>
            <a:off x="11760233" y="4355568"/>
            <a:ext cx="2243911" cy="0"/>
          </a:xfrm>
          <a:prstGeom prst="line">
            <a:avLst/>
          </a:prstGeom>
          <a:ln w="47625" cap="flat">
            <a:solidFill>
              <a:srgbClr val="545454"/>
            </a:solidFill>
            <a:prstDash val="solid"/>
            <a:headEnd type="none" w="sm" len="sm"/>
            <a:tailEnd type="oval" w="lg" len="lg"/>
          </a:ln>
        </p:spPr>
        <p:txBody>
          <a:bodyPr/>
          <a:lstStyle/>
          <a:p>
            <a:endParaRPr lang="en-IN"/>
          </a:p>
        </p:txBody>
      </p:sp>
      <p:sp>
        <p:nvSpPr>
          <p:cNvPr id="24" name="Freeform 24"/>
          <p:cNvSpPr/>
          <p:nvPr/>
        </p:nvSpPr>
        <p:spPr>
          <a:xfrm>
            <a:off x="14004144" y="3804579"/>
            <a:ext cx="1101979" cy="1101979"/>
          </a:xfrm>
          <a:custGeom>
            <a:avLst/>
            <a:gdLst/>
            <a:ahLst/>
            <a:cxnLst/>
            <a:rect l="l" t="t" r="r" b="b"/>
            <a:pathLst>
              <a:path w="1101979" h="1101979">
                <a:moveTo>
                  <a:pt x="0" y="0"/>
                </a:moveTo>
                <a:lnTo>
                  <a:pt x="1101979" y="0"/>
                </a:lnTo>
                <a:lnTo>
                  <a:pt x="1101979" y="1101978"/>
                </a:lnTo>
                <a:lnTo>
                  <a:pt x="0" y="1101978"/>
                </a:lnTo>
                <a:lnTo>
                  <a:pt x="0" y="0"/>
                </a:lnTo>
                <a:close/>
              </a:path>
            </a:pathLst>
          </a:custGeom>
          <a:blipFill>
            <a:blip r:embed="rId4"/>
            <a:stretch>
              <a:fillRect/>
            </a:stretch>
          </a:blipFill>
        </p:spPr>
        <p:txBody>
          <a:bodyPr/>
          <a:lstStyle/>
          <a:p>
            <a:endParaRPr lang="en-IN"/>
          </a:p>
        </p:txBody>
      </p:sp>
      <p:grpSp>
        <p:nvGrpSpPr>
          <p:cNvPr id="25" name="Group 25"/>
          <p:cNvGrpSpPr/>
          <p:nvPr/>
        </p:nvGrpSpPr>
        <p:grpSpPr>
          <a:xfrm>
            <a:off x="1961072" y="7587636"/>
            <a:ext cx="3733898" cy="742445"/>
            <a:chOff x="0" y="0"/>
            <a:chExt cx="4978531" cy="989927"/>
          </a:xfrm>
        </p:grpSpPr>
        <p:sp>
          <p:nvSpPr>
            <p:cNvPr id="26" name="TextBox 26"/>
            <p:cNvSpPr txBox="1"/>
            <p:nvPr/>
          </p:nvSpPr>
          <p:spPr>
            <a:xfrm>
              <a:off x="1382601" y="-47625"/>
              <a:ext cx="3595930" cy="1037552"/>
            </a:xfrm>
            <a:prstGeom prst="rect">
              <a:avLst/>
            </a:prstGeom>
          </p:spPr>
          <p:txBody>
            <a:bodyPr lIns="0" tIns="0" rIns="0" bIns="0" rtlCol="0" anchor="t">
              <a:spAutoFit/>
            </a:bodyPr>
            <a:lstStyle/>
            <a:p>
              <a:pPr marL="0" lvl="0" indent="0" algn="just">
                <a:lnSpc>
                  <a:spcPts val="3177"/>
                </a:lnSpc>
              </a:pPr>
              <a:r>
                <a:rPr lang="en-US" sz="2269">
                  <a:solidFill>
                    <a:srgbClr val="141412"/>
                  </a:solidFill>
                  <a:latin typeface="Monument Bold"/>
                  <a:ea typeface="Monument Bold"/>
                  <a:cs typeface="Monument Bold"/>
                  <a:sym typeface="Monument Bold"/>
                </a:rPr>
                <a:t>Data Integration</a:t>
              </a:r>
            </a:p>
          </p:txBody>
        </p:sp>
        <p:sp>
          <p:nvSpPr>
            <p:cNvPr id="27" name="Freeform 27"/>
            <p:cNvSpPr/>
            <p:nvPr/>
          </p:nvSpPr>
          <p:spPr>
            <a:xfrm>
              <a:off x="0" y="0"/>
              <a:ext cx="565573" cy="565573"/>
            </a:xfrm>
            <a:custGeom>
              <a:avLst/>
              <a:gdLst/>
              <a:ahLst/>
              <a:cxnLst/>
              <a:rect l="l" t="t" r="r" b="b"/>
              <a:pathLst>
                <a:path w="565573" h="565573">
                  <a:moveTo>
                    <a:pt x="0" y="0"/>
                  </a:moveTo>
                  <a:lnTo>
                    <a:pt x="565573" y="0"/>
                  </a:lnTo>
                  <a:lnTo>
                    <a:pt x="565573" y="565573"/>
                  </a:lnTo>
                  <a:lnTo>
                    <a:pt x="0" y="5655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grpSp>
        <p:nvGrpSpPr>
          <p:cNvPr id="28" name="Group 28"/>
          <p:cNvGrpSpPr/>
          <p:nvPr/>
        </p:nvGrpSpPr>
        <p:grpSpPr>
          <a:xfrm>
            <a:off x="5694971" y="7587636"/>
            <a:ext cx="3733898" cy="742445"/>
            <a:chOff x="0" y="0"/>
            <a:chExt cx="4978531" cy="989927"/>
          </a:xfrm>
        </p:grpSpPr>
        <p:sp>
          <p:nvSpPr>
            <p:cNvPr id="29" name="TextBox 29"/>
            <p:cNvSpPr txBox="1"/>
            <p:nvPr/>
          </p:nvSpPr>
          <p:spPr>
            <a:xfrm>
              <a:off x="1382601" y="-47625"/>
              <a:ext cx="3595930" cy="1037552"/>
            </a:xfrm>
            <a:prstGeom prst="rect">
              <a:avLst/>
            </a:prstGeom>
          </p:spPr>
          <p:txBody>
            <a:bodyPr lIns="0" tIns="0" rIns="0" bIns="0" rtlCol="0" anchor="t">
              <a:spAutoFit/>
            </a:bodyPr>
            <a:lstStyle/>
            <a:p>
              <a:pPr marL="0" lvl="0" indent="0" algn="just">
                <a:lnSpc>
                  <a:spcPts val="3177"/>
                </a:lnSpc>
              </a:pPr>
              <a:r>
                <a:rPr lang="en-US" sz="2269">
                  <a:solidFill>
                    <a:srgbClr val="141412"/>
                  </a:solidFill>
                  <a:latin typeface="Monument Bold"/>
                  <a:ea typeface="Monument Bold"/>
                  <a:cs typeface="Monument Bold"/>
                  <a:sym typeface="Monument Bold"/>
                </a:rPr>
                <a:t>Data Reduction</a:t>
              </a:r>
            </a:p>
          </p:txBody>
        </p:sp>
        <p:sp>
          <p:nvSpPr>
            <p:cNvPr id="30" name="Freeform 30"/>
            <p:cNvSpPr/>
            <p:nvPr/>
          </p:nvSpPr>
          <p:spPr>
            <a:xfrm>
              <a:off x="0" y="0"/>
              <a:ext cx="565573" cy="565573"/>
            </a:xfrm>
            <a:custGeom>
              <a:avLst/>
              <a:gdLst/>
              <a:ahLst/>
              <a:cxnLst/>
              <a:rect l="l" t="t" r="r" b="b"/>
              <a:pathLst>
                <a:path w="565573" h="565573">
                  <a:moveTo>
                    <a:pt x="0" y="0"/>
                  </a:moveTo>
                  <a:lnTo>
                    <a:pt x="565573" y="0"/>
                  </a:lnTo>
                  <a:lnTo>
                    <a:pt x="565573" y="565573"/>
                  </a:lnTo>
                  <a:lnTo>
                    <a:pt x="0" y="5655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grpSp>
        <p:nvGrpSpPr>
          <p:cNvPr id="31" name="Group 31"/>
          <p:cNvGrpSpPr/>
          <p:nvPr/>
        </p:nvGrpSpPr>
        <p:grpSpPr>
          <a:xfrm>
            <a:off x="9428869" y="7586616"/>
            <a:ext cx="3733898" cy="742445"/>
            <a:chOff x="0" y="0"/>
            <a:chExt cx="4978531" cy="989927"/>
          </a:xfrm>
        </p:grpSpPr>
        <p:sp>
          <p:nvSpPr>
            <p:cNvPr id="32" name="TextBox 32"/>
            <p:cNvSpPr txBox="1"/>
            <p:nvPr/>
          </p:nvSpPr>
          <p:spPr>
            <a:xfrm>
              <a:off x="1382601" y="-47625"/>
              <a:ext cx="3595930" cy="1037552"/>
            </a:xfrm>
            <a:prstGeom prst="rect">
              <a:avLst/>
            </a:prstGeom>
          </p:spPr>
          <p:txBody>
            <a:bodyPr lIns="0" tIns="0" rIns="0" bIns="0" rtlCol="0" anchor="t">
              <a:spAutoFit/>
            </a:bodyPr>
            <a:lstStyle/>
            <a:p>
              <a:pPr marL="0" lvl="0" indent="0" algn="just">
                <a:lnSpc>
                  <a:spcPts val="3177"/>
                </a:lnSpc>
              </a:pPr>
              <a:r>
                <a:rPr lang="en-US" sz="2269">
                  <a:solidFill>
                    <a:srgbClr val="141412"/>
                  </a:solidFill>
                  <a:latin typeface="Monument Bold"/>
                  <a:ea typeface="Monument Bold"/>
                  <a:cs typeface="Monument Bold"/>
                  <a:sym typeface="Monument Bold"/>
                </a:rPr>
                <a:t>Data Cleaning</a:t>
              </a:r>
            </a:p>
          </p:txBody>
        </p:sp>
        <p:sp>
          <p:nvSpPr>
            <p:cNvPr id="33" name="Freeform 33"/>
            <p:cNvSpPr/>
            <p:nvPr/>
          </p:nvSpPr>
          <p:spPr>
            <a:xfrm>
              <a:off x="0" y="0"/>
              <a:ext cx="565573" cy="565573"/>
            </a:xfrm>
            <a:custGeom>
              <a:avLst/>
              <a:gdLst/>
              <a:ahLst/>
              <a:cxnLst/>
              <a:rect l="l" t="t" r="r" b="b"/>
              <a:pathLst>
                <a:path w="565573" h="565573">
                  <a:moveTo>
                    <a:pt x="0" y="0"/>
                  </a:moveTo>
                  <a:lnTo>
                    <a:pt x="565573" y="0"/>
                  </a:lnTo>
                  <a:lnTo>
                    <a:pt x="565573" y="565573"/>
                  </a:lnTo>
                  <a:lnTo>
                    <a:pt x="0" y="5655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grpSp>
        <p:nvGrpSpPr>
          <p:cNvPr id="34" name="Group 34"/>
          <p:cNvGrpSpPr/>
          <p:nvPr/>
        </p:nvGrpSpPr>
        <p:grpSpPr>
          <a:xfrm>
            <a:off x="13162768" y="7587636"/>
            <a:ext cx="4250421" cy="742445"/>
            <a:chOff x="0" y="0"/>
            <a:chExt cx="5667229" cy="989927"/>
          </a:xfrm>
        </p:grpSpPr>
        <p:sp>
          <p:nvSpPr>
            <p:cNvPr id="35" name="TextBox 35"/>
            <p:cNvSpPr txBox="1"/>
            <p:nvPr/>
          </p:nvSpPr>
          <p:spPr>
            <a:xfrm>
              <a:off x="1382601" y="-47625"/>
              <a:ext cx="4284627" cy="1037552"/>
            </a:xfrm>
            <a:prstGeom prst="rect">
              <a:avLst/>
            </a:prstGeom>
          </p:spPr>
          <p:txBody>
            <a:bodyPr lIns="0" tIns="0" rIns="0" bIns="0" rtlCol="0" anchor="t">
              <a:spAutoFit/>
            </a:bodyPr>
            <a:lstStyle/>
            <a:p>
              <a:pPr marL="0" lvl="0" indent="0" algn="just">
                <a:lnSpc>
                  <a:spcPts val="3177"/>
                </a:lnSpc>
              </a:pPr>
              <a:r>
                <a:rPr lang="en-US" sz="2269">
                  <a:solidFill>
                    <a:srgbClr val="141412"/>
                  </a:solidFill>
                  <a:latin typeface="Monument Bold"/>
                  <a:ea typeface="Monument Bold"/>
                  <a:cs typeface="Monument Bold"/>
                  <a:sym typeface="Monument Bold"/>
                </a:rPr>
                <a:t>Data Transformation</a:t>
              </a:r>
            </a:p>
          </p:txBody>
        </p:sp>
        <p:sp>
          <p:nvSpPr>
            <p:cNvPr id="36" name="Freeform 36"/>
            <p:cNvSpPr/>
            <p:nvPr/>
          </p:nvSpPr>
          <p:spPr>
            <a:xfrm>
              <a:off x="0" y="0"/>
              <a:ext cx="565573" cy="565573"/>
            </a:xfrm>
            <a:custGeom>
              <a:avLst/>
              <a:gdLst/>
              <a:ahLst/>
              <a:cxnLst/>
              <a:rect l="l" t="t" r="r" b="b"/>
              <a:pathLst>
                <a:path w="565573" h="565573">
                  <a:moveTo>
                    <a:pt x="0" y="0"/>
                  </a:moveTo>
                  <a:lnTo>
                    <a:pt x="565573" y="0"/>
                  </a:lnTo>
                  <a:lnTo>
                    <a:pt x="565573" y="565573"/>
                  </a:lnTo>
                  <a:lnTo>
                    <a:pt x="0" y="5655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sp>
        <p:nvSpPr>
          <p:cNvPr id="37" name="TextBox 3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grpSp>
        <p:nvGrpSpPr>
          <p:cNvPr id="2" name="Group 2"/>
          <p:cNvGrpSpPr/>
          <p:nvPr/>
        </p:nvGrpSpPr>
        <p:grpSpPr>
          <a:xfrm>
            <a:off x="7758077" y="269875"/>
            <a:ext cx="9501223" cy="301625"/>
            <a:chOff x="0" y="0"/>
            <a:chExt cx="12668297" cy="402167"/>
          </a:xfrm>
        </p:grpSpPr>
        <p:sp>
          <p:nvSpPr>
            <p:cNvPr id="3" name="TextBox 3"/>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4" name="TextBox 4"/>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5" name="TextBox 5"/>
          <p:cNvSpPr txBox="1"/>
          <p:nvPr/>
        </p:nvSpPr>
        <p:spPr>
          <a:xfrm>
            <a:off x="1179494" y="768851"/>
            <a:ext cx="16079806" cy="714374"/>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PRELIMINARY ANALYSIS</a:t>
            </a:r>
          </a:p>
        </p:txBody>
      </p:sp>
      <p:sp>
        <p:nvSpPr>
          <p:cNvPr id="6" name="TextBox 6"/>
          <p:cNvSpPr txBox="1"/>
          <p:nvPr/>
        </p:nvSpPr>
        <p:spPr>
          <a:xfrm>
            <a:off x="1028700" y="1813455"/>
            <a:ext cx="8964774" cy="3580873"/>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1,761,259 Rows</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9 Category Datapoints</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6 Numerical Datapoints</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Time Range: Jan. 01 2018 - Aug. 15 2024</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Total Revenue: $41,730,373</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Avg. Order Value: $24</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2115982" y="3400425"/>
          <a:ext cx="14043223" cy="3609974"/>
        </p:xfrm>
        <a:graphic>
          <a:graphicData uri="http://schemas.openxmlformats.org/drawingml/2006/table">
            <a:tbl>
              <a:tblPr/>
              <a:tblGrid>
                <a:gridCol w="1755403">
                  <a:extLst>
                    <a:ext uri="{9D8B030D-6E8A-4147-A177-3AD203B41FA5}">
                      <a16:colId xmlns:a16="http://schemas.microsoft.com/office/drawing/2014/main" val="20000"/>
                    </a:ext>
                  </a:extLst>
                </a:gridCol>
                <a:gridCol w="1755403">
                  <a:extLst>
                    <a:ext uri="{9D8B030D-6E8A-4147-A177-3AD203B41FA5}">
                      <a16:colId xmlns:a16="http://schemas.microsoft.com/office/drawing/2014/main" val="20001"/>
                    </a:ext>
                  </a:extLst>
                </a:gridCol>
                <a:gridCol w="1896754">
                  <a:extLst>
                    <a:ext uri="{9D8B030D-6E8A-4147-A177-3AD203B41FA5}">
                      <a16:colId xmlns:a16="http://schemas.microsoft.com/office/drawing/2014/main" val="20002"/>
                    </a:ext>
                  </a:extLst>
                </a:gridCol>
                <a:gridCol w="1614051">
                  <a:extLst>
                    <a:ext uri="{9D8B030D-6E8A-4147-A177-3AD203B41FA5}">
                      <a16:colId xmlns:a16="http://schemas.microsoft.com/office/drawing/2014/main" val="20003"/>
                    </a:ext>
                  </a:extLst>
                </a:gridCol>
                <a:gridCol w="1755403">
                  <a:extLst>
                    <a:ext uri="{9D8B030D-6E8A-4147-A177-3AD203B41FA5}">
                      <a16:colId xmlns:a16="http://schemas.microsoft.com/office/drawing/2014/main" val="20004"/>
                    </a:ext>
                  </a:extLst>
                </a:gridCol>
                <a:gridCol w="1755403">
                  <a:extLst>
                    <a:ext uri="{9D8B030D-6E8A-4147-A177-3AD203B41FA5}">
                      <a16:colId xmlns:a16="http://schemas.microsoft.com/office/drawing/2014/main" val="20005"/>
                    </a:ext>
                  </a:extLst>
                </a:gridCol>
                <a:gridCol w="1755403">
                  <a:extLst>
                    <a:ext uri="{9D8B030D-6E8A-4147-A177-3AD203B41FA5}">
                      <a16:colId xmlns:a16="http://schemas.microsoft.com/office/drawing/2014/main" val="20006"/>
                    </a:ext>
                  </a:extLst>
                </a:gridCol>
                <a:gridCol w="1755403">
                  <a:extLst>
                    <a:ext uri="{9D8B030D-6E8A-4147-A177-3AD203B41FA5}">
                      <a16:colId xmlns:a16="http://schemas.microsoft.com/office/drawing/2014/main" val="20007"/>
                    </a:ext>
                  </a:extLst>
                </a:gridCol>
              </a:tblGrid>
              <a:tr h="1289964">
                <a:tc>
                  <a:txBody>
                    <a:bodyPr/>
                    <a:lstStyle/>
                    <a:p>
                      <a:pPr algn="ctr">
                        <a:lnSpc>
                          <a:spcPts val="2799"/>
                        </a:lnSpc>
                        <a:defRPr/>
                      </a:pPr>
                      <a:r>
                        <a:rPr lang="en-US" sz="1999" b="1">
                          <a:solidFill>
                            <a:srgbClr val="000000"/>
                          </a:solidFill>
                          <a:latin typeface="Helvetica World Bold"/>
                          <a:ea typeface="Helvetica World Bold"/>
                          <a:cs typeface="Helvetica World Bold"/>
                          <a:sym typeface="Helvetica World Bold"/>
                        </a:rPr>
                        <a:t>Category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(US) State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(Product) Category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Agg_Category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Age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Gender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Income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Education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30046">
                <a:tc>
                  <a:txBody>
                    <a:bodyPr/>
                    <a:lstStyle/>
                    <a:p>
                      <a:pPr algn="ctr">
                        <a:lnSpc>
                          <a:spcPts val="2799"/>
                        </a:lnSpc>
                        <a:defRPr/>
                      </a:pPr>
                      <a:r>
                        <a:rPr lang="en-US" sz="1999" b="1">
                          <a:solidFill>
                            <a:srgbClr val="000000"/>
                          </a:solidFill>
                          <a:latin typeface="Helvetica World Bold"/>
                          <a:ea typeface="Helvetica World Bold"/>
                          <a:cs typeface="Helvetica World Bold"/>
                          <a:sym typeface="Helvetica World Bold"/>
                        </a:rPr>
                        <a:t>Unique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52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1871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21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9964">
                <a:tc>
                  <a:txBody>
                    <a:bodyPr/>
                    <a:lstStyle/>
                    <a:p>
                      <a:pPr algn="ctr">
                        <a:lnSpc>
                          <a:spcPts val="2799"/>
                        </a:lnSpc>
                        <a:defRPr/>
                      </a:pPr>
                      <a:r>
                        <a:rPr lang="en-US" sz="1999" b="1">
                          <a:solidFill>
                            <a:srgbClr val="000000"/>
                          </a:solidFill>
                          <a:latin typeface="Helvetica World Bold"/>
                          <a:ea typeface="Helvetica World Bold"/>
                          <a:cs typeface="Helvetica World Bold"/>
                          <a:sym typeface="Helvetica World Bold"/>
                        </a:rPr>
                        <a:t>Top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California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ABIS_BOOK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Other / Misc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25 - 34 years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Female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Helvetica World"/>
                          <a:ea typeface="Helvetica World"/>
                          <a:cs typeface="Helvetica World"/>
                          <a:sym typeface="Helvetica World"/>
                        </a:rPr>
                        <a:t>$100,000 - $149,999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Helvetica World"/>
                          <a:ea typeface="Helvetica World"/>
                          <a:cs typeface="Helvetica World"/>
                          <a:sym typeface="Helvetica World"/>
                        </a:rPr>
                        <a:t>Bachelor’s degree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7758077" y="269875"/>
            <a:ext cx="9501223" cy="301625"/>
            <a:chOff x="0" y="0"/>
            <a:chExt cx="12668297" cy="402167"/>
          </a:xfrm>
        </p:grpSpPr>
        <p:sp>
          <p:nvSpPr>
            <p:cNvPr id="4" name="TextBox 4"/>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5" name="TextBox 5"/>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6" name="TextBox 6"/>
          <p:cNvSpPr txBox="1"/>
          <p:nvPr/>
        </p:nvSpPr>
        <p:spPr>
          <a:xfrm>
            <a:off x="1179494" y="768851"/>
            <a:ext cx="16079806" cy="714374"/>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PRELIMINARY ANALYSIS</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TextBox 2"/>
          <p:cNvSpPr txBox="1"/>
          <p:nvPr/>
        </p:nvSpPr>
        <p:spPr>
          <a:xfrm>
            <a:off x="5677649" y="2778107"/>
            <a:ext cx="7083497" cy="6781800"/>
          </a:xfrm>
          <a:prstGeom prst="rect">
            <a:avLst/>
          </a:prstGeom>
        </p:spPr>
        <p:txBody>
          <a:bodyPr lIns="0" tIns="0" rIns="0" bIns="0" rtlCol="0" anchor="t">
            <a:spAutoFit/>
          </a:bodyPr>
          <a:lstStyle/>
          <a:p>
            <a:pPr algn="ctr">
              <a:lnSpc>
                <a:spcPts val="4199"/>
              </a:lnSpc>
            </a:pPr>
            <a:r>
              <a:rPr lang="en-US" sz="2999" b="1" spc="131">
                <a:solidFill>
                  <a:srgbClr val="000000"/>
                </a:solidFill>
                <a:latin typeface="Canva Sans Bold"/>
                <a:ea typeface="Canva Sans Bold"/>
                <a:cs typeface="Canva Sans Bold"/>
                <a:sym typeface="Canva Sans Bold"/>
              </a:rPr>
              <a:t>TOTAL PRICE DISTRIBUTION</a:t>
            </a:r>
          </a:p>
          <a:p>
            <a:pPr algn="ctr">
              <a:lnSpc>
                <a:spcPts val="4199"/>
              </a:lnSpc>
            </a:pPr>
            <a:r>
              <a:rPr lang="en-US" sz="2999">
                <a:solidFill>
                  <a:srgbClr val="000000"/>
                </a:solidFill>
                <a:latin typeface="Canva Sans"/>
                <a:ea typeface="Canva Sans"/>
                <a:cs typeface="Canva Sans"/>
                <a:sym typeface="Canva Sans"/>
              </a:rPr>
              <a:t>OUTLIERS</a:t>
            </a:r>
          </a:p>
          <a:p>
            <a:pPr algn="ctr">
              <a:lnSpc>
                <a:spcPts val="4199"/>
              </a:lnSpc>
            </a:pPr>
            <a:endParaRPr lang="en-US" sz="2999">
              <a:solidFill>
                <a:srgbClr val="000000"/>
              </a:solidFill>
              <a:latin typeface="Canva Sans"/>
              <a:ea typeface="Canva Sans"/>
              <a:cs typeface="Canva Sans"/>
              <a:sym typeface="Canva Sans"/>
            </a:endParaRPr>
          </a:p>
          <a:p>
            <a:pPr algn="ctr">
              <a:lnSpc>
                <a:spcPts val="4199"/>
              </a:lnSpc>
            </a:pPr>
            <a:r>
              <a:rPr lang="en-US" sz="2999" b="1" spc="131">
                <a:solidFill>
                  <a:srgbClr val="000000"/>
                </a:solidFill>
                <a:latin typeface="Canva Sans Bold"/>
                <a:ea typeface="Canva Sans Bold"/>
                <a:cs typeface="Canva Sans Bold"/>
                <a:sym typeface="Canva Sans Bold"/>
              </a:rPr>
              <a:t>CATEGORIES BY PURCHASE COUNT</a:t>
            </a:r>
          </a:p>
          <a:p>
            <a:pPr algn="ctr">
              <a:lnSpc>
                <a:spcPts val="4199"/>
              </a:lnSpc>
            </a:pPr>
            <a:endParaRPr lang="en-US" sz="2999" b="1" spc="131">
              <a:solidFill>
                <a:srgbClr val="000000"/>
              </a:solidFill>
              <a:latin typeface="Canva Sans Bold"/>
              <a:ea typeface="Canva Sans Bold"/>
              <a:cs typeface="Canva Sans Bold"/>
              <a:sym typeface="Canva Sans Bold"/>
            </a:endParaRPr>
          </a:p>
          <a:p>
            <a:pPr algn="ctr">
              <a:lnSpc>
                <a:spcPts val="4199"/>
              </a:lnSpc>
            </a:pPr>
            <a:r>
              <a:rPr lang="en-US" sz="2999" b="1" spc="131">
                <a:solidFill>
                  <a:srgbClr val="000000"/>
                </a:solidFill>
                <a:latin typeface="Canva Sans Bold"/>
                <a:ea typeface="Canva Sans Bold"/>
                <a:cs typeface="Canva Sans Bold"/>
                <a:sym typeface="Canva Sans Bold"/>
              </a:rPr>
              <a:t>DEMOGRAPHIC PATTERNS</a:t>
            </a:r>
          </a:p>
          <a:p>
            <a:pPr marL="647694" lvl="1" indent="-323847" algn="ctr">
              <a:lnSpc>
                <a:spcPts val="4199"/>
              </a:lnSpc>
              <a:buAutoNum type="arabicPeriod"/>
            </a:pPr>
            <a:r>
              <a:rPr lang="en-US" sz="2999">
                <a:solidFill>
                  <a:srgbClr val="000000"/>
                </a:solidFill>
                <a:latin typeface="Canva Sans"/>
                <a:ea typeface="Canva Sans"/>
                <a:cs typeface="Canva Sans"/>
                <a:sym typeface="Canva Sans"/>
              </a:rPr>
              <a:t>REVENUE BY INCOME GROUP</a:t>
            </a:r>
          </a:p>
          <a:p>
            <a:pPr marL="647694" lvl="1" indent="-323847" algn="ctr">
              <a:lnSpc>
                <a:spcPts val="4199"/>
              </a:lnSpc>
              <a:buAutoNum type="arabicPeriod"/>
            </a:pPr>
            <a:r>
              <a:rPr lang="en-US" sz="2999">
                <a:solidFill>
                  <a:srgbClr val="000000"/>
                </a:solidFill>
                <a:latin typeface="Canva Sans"/>
                <a:ea typeface="Canva Sans"/>
                <a:cs typeface="Canva Sans"/>
                <a:sym typeface="Canva Sans"/>
              </a:rPr>
              <a:t>REVENUE BY AGE GROUP</a:t>
            </a:r>
          </a:p>
          <a:p>
            <a:pPr marL="647694" lvl="1" indent="-323847" algn="ctr">
              <a:lnSpc>
                <a:spcPts val="4199"/>
              </a:lnSpc>
              <a:buAutoNum type="arabicPeriod"/>
            </a:pPr>
            <a:r>
              <a:rPr lang="en-US" sz="2999">
                <a:solidFill>
                  <a:srgbClr val="000000"/>
                </a:solidFill>
                <a:latin typeface="Canva Sans"/>
                <a:ea typeface="Canva Sans"/>
                <a:cs typeface="Canva Sans"/>
                <a:sym typeface="Canva Sans"/>
              </a:rPr>
              <a:t>REVENUE BY STATE</a:t>
            </a:r>
          </a:p>
          <a:p>
            <a:pPr algn="ctr">
              <a:lnSpc>
                <a:spcPts val="4199"/>
              </a:lnSpc>
            </a:pPr>
            <a:endParaRPr lang="en-US" sz="2999">
              <a:solidFill>
                <a:srgbClr val="000000"/>
              </a:solidFill>
              <a:latin typeface="Canva Sans"/>
              <a:ea typeface="Canva Sans"/>
              <a:cs typeface="Canva Sans"/>
              <a:sym typeface="Canva Sans"/>
            </a:endParaRPr>
          </a:p>
          <a:p>
            <a:pPr algn="ctr">
              <a:lnSpc>
                <a:spcPts val="4199"/>
              </a:lnSpc>
            </a:pPr>
            <a:r>
              <a:rPr lang="en-US" sz="2999" b="1" spc="131">
                <a:solidFill>
                  <a:srgbClr val="000000"/>
                </a:solidFill>
                <a:latin typeface="Canva Sans Bold"/>
                <a:ea typeface="Canva Sans Bold"/>
                <a:cs typeface="Canva Sans Bold"/>
                <a:sym typeface="Canva Sans Bold"/>
              </a:rPr>
              <a:t>TIME PATTERNS</a:t>
            </a:r>
          </a:p>
          <a:p>
            <a:pPr marL="647694" lvl="1" indent="-323847" algn="ctr">
              <a:lnSpc>
                <a:spcPts val="4199"/>
              </a:lnSpc>
              <a:buAutoNum type="arabicPeriod"/>
            </a:pPr>
            <a:r>
              <a:rPr lang="en-US" sz="2999">
                <a:solidFill>
                  <a:srgbClr val="000000"/>
                </a:solidFill>
                <a:latin typeface="Canva Sans"/>
                <a:ea typeface="Canva Sans"/>
                <a:cs typeface="Canva Sans"/>
                <a:sym typeface="Canva Sans"/>
              </a:rPr>
              <a:t>MONTHLY TREND</a:t>
            </a:r>
          </a:p>
          <a:p>
            <a:pPr marL="647694" lvl="1" indent="-323847" algn="ctr">
              <a:lnSpc>
                <a:spcPts val="4199"/>
              </a:lnSpc>
              <a:buAutoNum type="arabicPeriod"/>
            </a:pPr>
            <a:r>
              <a:rPr lang="en-US" sz="2999">
                <a:solidFill>
                  <a:srgbClr val="000000"/>
                </a:solidFill>
                <a:latin typeface="Canva Sans"/>
                <a:ea typeface="Canva Sans"/>
                <a:cs typeface="Canva Sans"/>
                <a:sym typeface="Canva Sans"/>
              </a:rPr>
              <a:t>DAYS IN WEEK PATTERN</a:t>
            </a:r>
          </a:p>
        </p:txBody>
      </p:sp>
      <p:sp>
        <p:nvSpPr>
          <p:cNvPr id="3" name="Freeform 3"/>
          <p:cNvSpPr/>
          <p:nvPr/>
        </p:nvSpPr>
        <p:spPr>
          <a:xfrm>
            <a:off x="4119818" y="5805786"/>
            <a:ext cx="1383421" cy="1396113"/>
          </a:xfrm>
          <a:custGeom>
            <a:avLst/>
            <a:gdLst/>
            <a:ahLst/>
            <a:cxnLst/>
            <a:rect l="l" t="t" r="r" b="b"/>
            <a:pathLst>
              <a:path w="1383421" h="1396113">
                <a:moveTo>
                  <a:pt x="0" y="0"/>
                </a:moveTo>
                <a:lnTo>
                  <a:pt x="1383421" y="0"/>
                </a:lnTo>
                <a:lnTo>
                  <a:pt x="1383421" y="1396113"/>
                </a:lnTo>
                <a:lnTo>
                  <a:pt x="0" y="13961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4179636" y="2111498"/>
            <a:ext cx="1323603" cy="1363261"/>
          </a:xfrm>
          <a:custGeom>
            <a:avLst/>
            <a:gdLst/>
            <a:ahLst/>
            <a:cxnLst/>
            <a:rect l="l" t="t" r="r" b="b"/>
            <a:pathLst>
              <a:path w="1323603" h="1363261">
                <a:moveTo>
                  <a:pt x="0" y="0"/>
                </a:moveTo>
                <a:lnTo>
                  <a:pt x="1323603" y="0"/>
                </a:lnTo>
                <a:lnTo>
                  <a:pt x="1323603" y="1363262"/>
                </a:lnTo>
                <a:lnTo>
                  <a:pt x="0" y="13632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4119818" y="4060113"/>
            <a:ext cx="1199927" cy="1117023"/>
          </a:xfrm>
          <a:custGeom>
            <a:avLst/>
            <a:gdLst/>
            <a:ahLst/>
            <a:cxnLst/>
            <a:rect l="l" t="t" r="r" b="b"/>
            <a:pathLst>
              <a:path w="1199927" h="1117023">
                <a:moveTo>
                  <a:pt x="0" y="0"/>
                </a:moveTo>
                <a:lnTo>
                  <a:pt x="1199927" y="0"/>
                </a:lnTo>
                <a:lnTo>
                  <a:pt x="1199927" y="1117023"/>
                </a:lnTo>
                <a:lnTo>
                  <a:pt x="0" y="11170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a:off x="4274317" y="8270008"/>
            <a:ext cx="1228922" cy="1289899"/>
          </a:xfrm>
          <a:custGeom>
            <a:avLst/>
            <a:gdLst/>
            <a:ahLst/>
            <a:cxnLst/>
            <a:rect l="l" t="t" r="r" b="b"/>
            <a:pathLst>
              <a:path w="1228922" h="1289899">
                <a:moveTo>
                  <a:pt x="0" y="0"/>
                </a:moveTo>
                <a:lnTo>
                  <a:pt x="1228922" y="0"/>
                </a:lnTo>
                <a:lnTo>
                  <a:pt x="1228922" y="1289899"/>
                </a:lnTo>
                <a:lnTo>
                  <a:pt x="0" y="128989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id="8" name="TextBox 8"/>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EXPLORATORY DATA ANALYSIS</a:t>
            </a:r>
          </a:p>
        </p:txBody>
      </p:sp>
      <p:grpSp>
        <p:nvGrpSpPr>
          <p:cNvPr id="9" name="Group 9"/>
          <p:cNvGrpSpPr/>
          <p:nvPr/>
        </p:nvGrpSpPr>
        <p:grpSpPr>
          <a:xfrm>
            <a:off x="7758077" y="269875"/>
            <a:ext cx="9501223" cy="301625"/>
            <a:chOff x="0" y="0"/>
            <a:chExt cx="12668297" cy="402167"/>
          </a:xfrm>
        </p:grpSpPr>
        <p:sp>
          <p:nvSpPr>
            <p:cNvPr id="10" name="TextBox 10"/>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11" name="TextBox 11"/>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grpSp>
        <p:nvGrpSpPr>
          <p:cNvPr id="3" name="Group 3"/>
          <p:cNvGrpSpPr/>
          <p:nvPr/>
        </p:nvGrpSpPr>
        <p:grpSpPr>
          <a:xfrm>
            <a:off x="7758077" y="269875"/>
            <a:ext cx="9501223" cy="301625"/>
            <a:chOff x="0" y="0"/>
            <a:chExt cx="12668297" cy="402167"/>
          </a:xfrm>
        </p:grpSpPr>
        <p:sp>
          <p:nvSpPr>
            <p:cNvPr id="4" name="TextBox 4"/>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5" name="TextBox 5"/>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6" name="TextBox 6"/>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HOW OUR METRICS WORK</a:t>
            </a:r>
          </a:p>
        </p:txBody>
      </p:sp>
      <p:sp>
        <p:nvSpPr>
          <p:cNvPr id="7" name="TextBox 7"/>
          <p:cNvSpPr txBox="1"/>
          <p:nvPr/>
        </p:nvSpPr>
        <p:spPr>
          <a:xfrm>
            <a:off x="1028700" y="1813455"/>
            <a:ext cx="17259300" cy="7181431"/>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Total Price is calculated per row, as unit price times quantity, computed once per purchased item. </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Total Revenue is a single sum for the entire dataset across all 1.76 million rows.</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The histogram shows the spread of individual purchase values, not the single total revenue figure.</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For the demographic and geographic charts, we just group those same purchase amounts by the buyer's income, age, or state label that came from the survey, and sum within each group.</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All our revenue and count metrics are computed from the Amazon purchase transaction data: Total Price, categories, dates. </a:t>
            </a:r>
          </a:p>
          <a:p>
            <a:pPr marL="734059" lvl="1" indent="-367030" algn="l">
              <a:lnSpc>
                <a:spcPts val="4759"/>
              </a:lnSpc>
              <a:buFont typeface="Arial"/>
              <a:buChar char="•"/>
            </a:pPr>
            <a:r>
              <a:rPr lang="en-US" sz="3399">
                <a:solidFill>
                  <a:srgbClr val="141412"/>
                </a:solidFill>
                <a:latin typeface="Canva Sans"/>
                <a:ea typeface="Canva Sans"/>
                <a:cs typeface="Canva Sans"/>
                <a:sym typeface="Canva Sans"/>
              </a:rPr>
              <a:t>The survey supplies the demographic labels we use to slice and group those purchases.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9560210" y="3011959"/>
            <a:ext cx="8467761" cy="4486946"/>
          </a:xfrm>
          <a:custGeom>
            <a:avLst/>
            <a:gdLst/>
            <a:ahLst/>
            <a:cxnLst/>
            <a:rect l="l" t="t" r="r" b="b"/>
            <a:pathLst>
              <a:path w="8467761" h="4486946">
                <a:moveTo>
                  <a:pt x="0" y="0"/>
                </a:moveTo>
                <a:lnTo>
                  <a:pt x="8467761" y="0"/>
                </a:lnTo>
                <a:lnTo>
                  <a:pt x="8467761" y="4486946"/>
                </a:lnTo>
                <a:lnTo>
                  <a:pt x="0" y="4486946"/>
                </a:lnTo>
                <a:lnTo>
                  <a:pt x="0" y="0"/>
                </a:lnTo>
                <a:close/>
              </a:path>
            </a:pathLst>
          </a:custGeom>
          <a:blipFill>
            <a:blip r:embed="rId3"/>
            <a:stretch>
              <a:fillRect/>
            </a:stretch>
          </a:blipFill>
        </p:spPr>
        <p:txBody>
          <a:bodyPr/>
          <a:lstStyle/>
          <a:p>
            <a:endParaRPr lang="en-IN"/>
          </a:p>
        </p:txBody>
      </p:sp>
      <p:sp>
        <p:nvSpPr>
          <p:cNvPr id="3" name="Freeform 3"/>
          <p:cNvSpPr/>
          <p:nvPr/>
        </p:nvSpPr>
        <p:spPr>
          <a:xfrm>
            <a:off x="169454" y="3011959"/>
            <a:ext cx="9049943" cy="4486946"/>
          </a:xfrm>
          <a:custGeom>
            <a:avLst/>
            <a:gdLst/>
            <a:ahLst/>
            <a:cxnLst/>
            <a:rect l="l" t="t" r="r" b="b"/>
            <a:pathLst>
              <a:path w="9049943" h="4486946">
                <a:moveTo>
                  <a:pt x="0" y="0"/>
                </a:moveTo>
                <a:lnTo>
                  <a:pt x="9049943" y="0"/>
                </a:lnTo>
                <a:lnTo>
                  <a:pt x="9049943" y="4486946"/>
                </a:lnTo>
                <a:lnTo>
                  <a:pt x="0" y="4486946"/>
                </a:lnTo>
                <a:lnTo>
                  <a:pt x="0" y="0"/>
                </a:lnTo>
                <a:close/>
              </a:path>
            </a:pathLst>
          </a:custGeom>
          <a:blipFill>
            <a:blip r:embed="rId4"/>
            <a:stretch>
              <a:fillRect/>
            </a:stretch>
          </a:blipFill>
        </p:spPr>
        <p:txBody>
          <a:bodyPr/>
          <a:lstStyle/>
          <a:p>
            <a:endParaRPr lang="en-IN"/>
          </a:p>
        </p:txBody>
      </p:sp>
      <p:grpSp>
        <p:nvGrpSpPr>
          <p:cNvPr id="4" name="Group 4"/>
          <p:cNvGrpSpPr/>
          <p:nvPr/>
        </p:nvGrpSpPr>
        <p:grpSpPr>
          <a:xfrm>
            <a:off x="7758077" y="269875"/>
            <a:ext cx="9501223" cy="301625"/>
            <a:chOff x="0" y="0"/>
            <a:chExt cx="12668297" cy="402167"/>
          </a:xfrm>
        </p:grpSpPr>
        <p:sp>
          <p:nvSpPr>
            <p:cNvPr id="5" name="TextBox 5"/>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6" name="TextBox 6"/>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7" name="TextBox 7"/>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TOTAL PRICE DISTRIBUTION</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11</a:t>
            </a:r>
          </a:p>
        </p:txBody>
      </p:sp>
      <p:sp>
        <p:nvSpPr>
          <p:cNvPr id="9" name="TextBox 9"/>
          <p:cNvSpPr txBox="1"/>
          <p:nvPr/>
        </p:nvSpPr>
        <p:spPr>
          <a:xfrm>
            <a:off x="1179494" y="1639028"/>
            <a:ext cx="5660545" cy="330182"/>
          </a:xfrm>
          <a:prstGeom prst="rect">
            <a:avLst/>
          </a:prstGeom>
        </p:spPr>
        <p:txBody>
          <a:bodyPr lIns="0" tIns="0" rIns="0" bIns="0" rtlCol="0" anchor="t">
            <a:spAutoFit/>
          </a:bodyPr>
          <a:lstStyle/>
          <a:p>
            <a:pPr algn="ctr">
              <a:lnSpc>
                <a:spcPts val="2799"/>
              </a:lnSpc>
              <a:spcBef>
                <a:spcPct val="0"/>
              </a:spcBef>
            </a:pPr>
            <a:r>
              <a:rPr lang="en-US" sz="1999">
                <a:solidFill>
                  <a:srgbClr val="141412"/>
                </a:solidFill>
                <a:latin typeface="Helvetica World"/>
                <a:ea typeface="Helvetica World"/>
                <a:cs typeface="Helvetica World"/>
                <a:sym typeface="Helvetica World"/>
              </a:rPr>
              <a:t>SHAPE OF PURCHASE VALUES (TOTAL PRICE)</a:t>
            </a:r>
          </a:p>
        </p:txBody>
      </p:sp>
      <p:sp>
        <p:nvSpPr>
          <p:cNvPr id="10" name="TextBox 10"/>
          <p:cNvSpPr txBox="1"/>
          <p:nvPr/>
        </p:nvSpPr>
        <p:spPr>
          <a:xfrm>
            <a:off x="5104070" y="9026779"/>
            <a:ext cx="8912279" cy="736073"/>
          </a:xfrm>
          <a:prstGeom prst="rect">
            <a:avLst/>
          </a:prstGeom>
        </p:spPr>
        <p:txBody>
          <a:bodyPr lIns="0" tIns="0" rIns="0" bIns="0" rtlCol="0" anchor="t">
            <a:spAutoFit/>
          </a:bodyPr>
          <a:lstStyle/>
          <a:p>
            <a:pPr marL="0" lvl="0" indent="0" algn="ctr">
              <a:lnSpc>
                <a:spcPts val="1960"/>
              </a:lnSpc>
            </a:pPr>
            <a:r>
              <a:rPr lang="en-US" sz="1400">
                <a:solidFill>
                  <a:srgbClr val="141412"/>
                </a:solidFill>
                <a:latin typeface="Helvetica World"/>
                <a:ea typeface="Helvetica World"/>
                <a:cs typeface="Helvetica World"/>
                <a:sym typeface="Helvetica World"/>
              </a:rPr>
              <a:t>Median purchase value: $14.49 ; Mean: $23.69 ; 75th Percentile: $24.84</a:t>
            </a:r>
          </a:p>
          <a:p>
            <a:pPr marL="0" lvl="0" indent="0" algn="ctr">
              <a:lnSpc>
                <a:spcPts val="1960"/>
              </a:lnSpc>
            </a:pPr>
            <a:r>
              <a:rPr lang="en-US" sz="1400">
                <a:solidFill>
                  <a:srgbClr val="141412"/>
                </a:solidFill>
                <a:latin typeface="Helvetica World"/>
                <a:ea typeface="Helvetica World"/>
                <a:cs typeface="Helvetica World"/>
                <a:sym typeface="Helvetica World"/>
              </a:rPr>
              <a:t>Maximum single line item: $6,398.95</a:t>
            </a:r>
          </a:p>
          <a:p>
            <a:pPr algn="ctr">
              <a:lnSpc>
                <a:spcPts val="1960"/>
              </a:lnSpc>
              <a:spcBef>
                <a:spcPct val="0"/>
              </a:spcBef>
            </a:pPr>
            <a:r>
              <a:rPr lang="en-US" sz="1400">
                <a:solidFill>
                  <a:srgbClr val="141412"/>
                </a:solidFill>
                <a:latin typeface="Helvetica World"/>
                <a:ea typeface="Helvetica World"/>
                <a:cs typeface="Helvetica World"/>
                <a:sym typeface="Helvetica World"/>
              </a:rPr>
              <a:t>Few very expensive purchases create a long right tail; Most transactions are low value, with revenue highly skewed.</a:t>
            </a:r>
          </a:p>
        </p:txBody>
      </p:sp>
      <p:sp>
        <p:nvSpPr>
          <p:cNvPr id="11" name="TextBox 11"/>
          <p:cNvSpPr txBox="1"/>
          <p:nvPr/>
        </p:nvSpPr>
        <p:spPr>
          <a:xfrm>
            <a:off x="7758077" y="8449595"/>
            <a:ext cx="3652384" cy="317564"/>
          </a:xfrm>
          <a:prstGeom prst="rect">
            <a:avLst/>
          </a:prstGeom>
        </p:spPr>
        <p:txBody>
          <a:bodyPr lIns="0" tIns="0" rIns="0" bIns="0" rtlCol="0" anchor="t">
            <a:spAutoFit/>
          </a:bodyPr>
          <a:lstStyle/>
          <a:p>
            <a:pPr algn="l">
              <a:lnSpc>
                <a:spcPts val="2375"/>
              </a:lnSpc>
            </a:pPr>
            <a:r>
              <a:rPr lang="en-US" sz="2500" spc="-125">
                <a:solidFill>
                  <a:srgbClr val="000000"/>
                </a:solidFill>
                <a:latin typeface="League Spartan"/>
                <a:ea typeface="League Spartan"/>
                <a:cs typeface="League Spartan"/>
                <a:sym typeface="League Spartan"/>
              </a:rPr>
              <a:t>Total Revenue ≈ $41.7M</a:t>
            </a:r>
          </a:p>
        </p:txBody>
      </p:sp>
      <p:sp>
        <p:nvSpPr>
          <p:cNvPr id="12" name="TextBox 12"/>
          <p:cNvSpPr txBox="1"/>
          <p:nvPr/>
        </p:nvSpPr>
        <p:spPr>
          <a:xfrm>
            <a:off x="-4799701" y="8363870"/>
            <a:ext cx="9997822" cy="330182"/>
          </a:xfrm>
          <a:prstGeom prst="rect">
            <a:avLst/>
          </a:prstGeom>
        </p:spPr>
        <p:txBody>
          <a:bodyPr lIns="0" tIns="0" rIns="0" bIns="0" rtlCol="0" anchor="t">
            <a:spAutoFit/>
          </a:bodyPr>
          <a:lstStyle/>
          <a:p>
            <a:pPr algn="l">
              <a:lnSpc>
                <a:spcPts val="2799"/>
              </a:lnSpc>
              <a:spcBef>
                <a:spcPct val="0"/>
              </a:spcBef>
            </a:pPr>
            <a:r>
              <a:rPr lang="en-US" sz="1999">
                <a:solidFill>
                  <a:srgbClr val="000000"/>
                </a:solidFill>
                <a:latin typeface="Helvetica World"/>
                <a:ea typeface="Helvetica World"/>
                <a:cs typeface="Helvetica World"/>
                <a:sym typeface="Helvetica World"/>
              </a:rPr>
              <a:t>YOUR PARAGRAPH TEXT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5034247" y="1704798"/>
            <a:ext cx="8219505" cy="6877403"/>
          </a:xfrm>
          <a:custGeom>
            <a:avLst/>
            <a:gdLst/>
            <a:ahLst/>
            <a:cxnLst/>
            <a:rect l="l" t="t" r="r" b="b"/>
            <a:pathLst>
              <a:path w="8219505" h="6877403">
                <a:moveTo>
                  <a:pt x="0" y="0"/>
                </a:moveTo>
                <a:lnTo>
                  <a:pt x="8219506" y="0"/>
                </a:lnTo>
                <a:lnTo>
                  <a:pt x="8219506" y="6877404"/>
                </a:lnTo>
                <a:lnTo>
                  <a:pt x="0" y="6877404"/>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grpSp>
        <p:nvGrpSpPr>
          <p:cNvPr id="4" name="Group 4"/>
          <p:cNvGrpSpPr/>
          <p:nvPr/>
        </p:nvGrpSpPr>
        <p:grpSpPr>
          <a:xfrm>
            <a:off x="7758077" y="269875"/>
            <a:ext cx="9501223" cy="301625"/>
            <a:chOff x="0" y="0"/>
            <a:chExt cx="12668297" cy="402167"/>
          </a:xfrm>
        </p:grpSpPr>
        <p:sp>
          <p:nvSpPr>
            <p:cNvPr id="5" name="TextBox 5"/>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6" name="TextBox 6"/>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7" name="TextBox 7"/>
          <p:cNvSpPr txBox="1"/>
          <p:nvPr/>
        </p:nvSpPr>
        <p:spPr>
          <a:xfrm>
            <a:off x="5161061" y="8866142"/>
            <a:ext cx="7965879" cy="983759"/>
          </a:xfrm>
          <a:prstGeom prst="rect">
            <a:avLst/>
          </a:prstGeom>
        </p:spPr>
        <p:txBody>
          <a:bodyPr lIns="0" tIns="0" rIns="0" bIns="0" rtlCol="0" anchor="t">
            <a:spAutoFit/>
          </a:bodyPr>
          <a:lstStyle/>
          <a:p>
            <a:pPr algn="ctr">
              <a:lnSpc>
                <a:spcPts val="1960"/>
              </a:lnSpc>
            </a:pPr>
            <a:r>
              <a:rPr lang="en-US" sz="1400">
                <a:solidFill>
                  <a:srgbClr val="000000"/>
                </a:solidFill>
                <a:latin typeface="Helvetica World"/>
                <a:ea typeface="Helvetica World"/>
                <a:cs typeface="Helvetica World"/>
                <a:sym typeface="Helvetica World"/>
              </a:rPr>
              <a:t>Right-Skewed Distribution: A few large ones pull the mean to the right</a:t>
            </a:r>
          </a:p>
          <a:p>
            <a:pPr algn="ctr">
              <a:lnSpc>
                <a:spcPts val="1960"/>
              </a:lnSpc>
            </a:pPr>
            <a:r>
              <a:rPr lang="en-US" sz="1400">
                <a:solidFill>
                  <a:srgbClr val="000000"/>
                </a:solidFill>
                <a:latin typeface="Helvetica World"/>
                <a:ea typeface="Helvetica World"/>
                <a:cs typeface="Helvetica World"/>
                <a:sym typeface="Helvetica World"/>
              </a:rPr>
              <a:t>There are many small values and few large ones</a:t>
            </a:r>
          </a:p>
          <a:p>
            <a:pPr algn="ctr">
              <a:lnSpc>
                <a:spcPts val="1960"/>
              </a:lnSpc>
              <a:spcBef>
                <a:spcPct val="0"/>
              </a:spcBef>
            </a:pPr>
            <a:r>
              <a:rPr lang="en-US" sz="1400">
                <a:solidFill>
                  <a:srgbClr val="000000"/>
                </a:solidFill>
                <a:latin typeface="Helvetica World"/>
                <a:ea typeface="Helvetica World"/>
                <a:cs typeface="Helvetica World"/>
                <a:sym typeface="Helvetica World"/>
              </a:rPr>
              <a:t>Outliers: Purchases more than $48.82 (Q3 + 1.5 * IQR) are outliers, significantly different from the majority</a:t>
            </a:r>
          </a:p>
        </p:txBody>
      </p:sp>
      <p:sp>
        <p:nvSpPr>
          <p:cNvPr id="8" name="TextBox 8"/>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OUTLIERS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531419" y="2210375"/>
            <a:ext cx="8439033" cy="7019515"/>
          </a:xfrm>
          <a:custGeom>
            <a:avLst/>
            <a:gdLst/>
            <a:ahLst/>
            <a:cxnLst/>
            <a:rect l="l" t="t" r="r" b="b"/>
            <a:pathLst>
              <a:path w="8439033" h="7019515">
                <a:moveTo>
                  <a:pt x="0" y="0"/>
                </a:moveTo>
                <a:lnTo>
                  <a:pt x="8439033" y="0"/>
                </a:lnTo>
                <a:lnTo>
                  <a:pt x="8439033" y="7019515"/>
                </a:lnTo>
                <a:lnTo>
                  <a:pt x="0" y="7019515"/>
                </a:lnTo>
                <a:lnTo>
                  <a:pt x="0" y="0"/>
                </a:lnTo>
                <a:close/>
              </a:path>
            </a:pathLst>
          </a:custGeom>
          <a:blipFill>
            <a:blip r:embed="rId3"/>
            <a:stretch>
              <a:fillRect/>
            </a:stretch>
          </a:blipFill>
        </p:spPr>
        <p:txBody>
          <a:bodyPr/>
          <a:lstStyle/>
          <a:p>
            <a:endParaRPr lang="en-IN"/>
          </a:p>
        </p:txBody>
      </p:sp>
      <p:sp>
        <p:nvSpPr>
          <p:cNvPr id="3" name="Freeform 3"/>
          <p:cNvSpPr/>
          <p:nvPr/>
        </p:nvSpPr>
        <p:spPr>
          <a:xfrm>
            <a:off x="9468342" y="2210375"/>
            <a:ext cx="8439033" cy="7019515"/>
          </a:xfrm>
          <a:custGeom>
            <a:avLst/>
            <a:gdLst/>
            <a:ahLst/>
            <a:cxnLst/>
            <a:rect l="l" t="t" r="r" b="b"/>
            <a:pathLst>
              <a:path w="8439033" h="7019515">
                <a:moveTo>
                  <a:pt x="0" y="0"/>
                </a:moveTo>
                <a:lnTo>
                  <a:pt x="8439033" y="0"/>
                </a:lnTo>
                <a:lnTo>
                  <a:pt x="8439033" y="7019515"/>
                </a:lnTo>
                <a:lnTo>
                  <a:pt x="0" y="7019515"/>
                </a:lnTo>
                <a:lnTo>
                  <a:pt x="0" y="0"/>
                </a:lnTo>
                <a:close/>
              </a:path>
            </a:pathLst>
          </a:custGeom>
          <a:blipFill>
            <a:blip r:embed="rId4"/>
            <a:stretch>
              <a:fillRect/>
            </a:stretch>
          </a:blipFill>
        </p:spPr>
        <p:txBody>
          <a:bodyPr/>
          <a:lstStyle/>
          <a:p>
            <a:endParaRPr lang="en-IN"/>
          </a:p>
        </p:txBody>
      </p:sp>
      <p:grpSp>
        <p:nvGrpSpPr>
          <p:cNvPr id="4" name="Group 4"/>
          <p:cNvGrpSpPr/>
          <p:nvPr/>
        </p:nvGrpSpPr>
        <p:grpSpPr>
          <a:xfrm>
            <a:off x="7758077" y="269875"/>
            <a:ext cx="9501223" cy="301625"/>
            <a:chOff x="0" y="0"/>
            <a:chExt cx="12668297" cy="402167"/>
          </a:xfrm>
        </p:grpSpPr>
        <p:sp>
          <p:nvSpPr>
            <p:cNvPr id="5" name="TextBox 5"/>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6" name="TextBox 6"/>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7" name="TextBox 7"/>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TOP CATEGORIES (BY PURCHASES)</a:t>
            </a:r>
          </a:p>
        </p:txBody>
      </p:sp>
      <p:sp>
        <p:nvSpPr>
          <p:cNvPr id="8" name="TextBox 8"/>
          <p:cNvSpPr txBox="1"/>
          <p:nvPr/>
        </p:nvSpPr>
        <p:spPr>
          <a:xfrm>
            <a:off x="531419" y="1683250"/>
            <a:ext cx="8439033" cy="330200"/>
          </a:xfrm>
          <a:prstGeom prst="rect">
            <a:avLst/>
          </a:prstGeom>
        </p:spPr>
        <p:txBody>
          <a:bodyPr lIns="0" tIns="0" rIns="0" bIns="0" rtlCol="0" anchor="t">
            <a:spAutoFit/>
          </a:bodyPr>
          <a:lstStyle/>
          <a:p>
            <a:pPr algn="ctr">
              <a:lnSpc>
                <a:spcPts val="2799"/>
              </a:lnSpc>
              <a:spcBef>
                <a:spcPct val="0"/>
              </a:spcBef>
            </a:pPr>
            <a:r>
              <a:rPr lang="en-US" sz="1999">
                <a:solidFill>
                  <a:srgbClr val="141412"/>
                </a:solidFill>
                <a:latin typeface="Helvetica World"/>
                <a:ea typeface="Helvetica World"/>
                <a:cs typeface="Helvetica World"/>
                <a:sym typeface="Helvetica World"/>
              </a:rPr>
              <a:t>Default Categories</a:t>
            </a:r>
          </a:p>
        </p:txBody>
      </p:sp>
      <p:sp>
        <p:nvSpPr>
          <p:cNvPr id="9" name="TextBox 9"/>
          <p:cNvSpPr txBox="1"/>
          <p:nvPr/>
        </p:nvSpPr>
        <p:spPr>
          <a:xfrm>
            <a:off x="9468342" y="1683250"/>
            <a:ext cx="8346636" cy="330200"/>
          </a:xfrm>
          <a:prstGeom prst="rect">
            <a:avLst/>
          </a:prstGeom>
        </p:spPr>
        <p:txBody>
          <a:bodyPr lIns="0" tIns="0" rIns="0" bIns="0" rtlCol="0" anchor="t">
            <a:spAutoFit/>
          </a:bodyPr>
          <a:lstStyle/>
          <a:p>
            <a:pPr algn="ctr">
              <a:lnSpc>
                <a:spcPts val="2799"/>
              </a:lnSpc>
              <a:spcBef>
                <a:spcPct val="0"/>
              </a:spcBef>
            </a:pPr>
            <a:r>
              <a:rPr lang="en-US" sz="1999">
                <a:solidFill>
                  <a:srgbClr val="141412"/>
                </a:solidFill>
                <a:latin typeface="Helvetica World"/>
                <a:ea typeface="Helvetica World"/>
                <a:cs typeface="Helvetica World"/>
                <a:sym typeface="Helvetica World"/>
              </a:rPr>
              <a:t>Aggregated Categories</a:t>
            </a: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13</a:t>
            </a:r>
          </a:p>
        </p:txBody>
      </p:sp>
      <p:sp>
        <p:nvSpPr>
          <p:cNvPr id="11" name="TextBox 11"/>
          <p:cNvSpPr txBox="1"/>
          <p:nvPr/>
        </p:nvSpPr>
        <p:spPr>
          <a:xfrm>
            <a:off x="2730842" y="9401340"/>
            <a:ext cx="4040187" cy="700459"/>
          </a:xfrm>
          <a:prstGeom prst="rect">
            <a:avLst/>
          </a:prstGeom>
        </p:spPr>
        <p:txBody>
          <a:bodyPr lIns="0" tIns="0" rIns="0" bIns="0" rtlCol="0" anchor="t">
            <a:spAutoFit/>
          </a:bodyPr>
          <a:lstStyle/>
          <a:p>
            <a:pPr algn="ctr">
              <a:lnSpc>
                <a:spcPts val="1959"/>
              </a:lnSpc>
              <a:spcBef>
                <a:spcPct val="0"/>
              </a:spcBef>
            </a:pPr>
            <a:r>
              <a:rPr lang="en-US" sz="1399">
                <a:solidFill>
                  <a:srgbClr val="141412"/>
                </a:solidFill>
                <a:latin typeface="Helvetica World"/>
                <a:ea typeface="Helvetica World"/>
                <a:cs typeface="Helvetica World"/>
                <a:sym typeface="Helvetica World"/>
              </a:rPr>
              <a:t>Top raw category: abis_book with 87,619 purchases</a:t>
            </a:r>
          </a:p>
          <a:p>
            <a:pPr algn="ctr">
              <a:lnSpc>
                <a:spcPts val="1959"/>
              </a:lnSpc>
              <a:spcBef>
                <a:spcPct val="0"/>
              </a:spcBef>
            </a:pPr>
            <a:r>
              <a:rPr lang="en-US" sz="1399">
                <a:solidFill>
                  <a:srgbClr val="141412"/>
                </a:solidFill>
                <a:latin typeface="Helvetica World"/>
                <a:ea typeface="Helvetica World"/>
                <a:cs typeface="Helvetica World"/>
                <a:sym typeface="Helvetica World"/>
              </a:rPr>
              <a:t>Others: pet_food, gift_card, shirt</a:t>
            </a:r>
          </a:p>
          <a:p>
            <a:pPr algn="ctr">
              <a:lnSpc>
                <a:spcPts val="1679"/>
              </a:lnSpc>
              <a:spcBef>
                <a:spcPct val="0"/>
              </a:spcBef>
            </a:pPr>
            <a:endParaRPr lang="en-US" sz="1399">
              <a:solidFill>
                <a:srgbClr val="141412"/>
              </a:solidFill>
              <a:latin typeface="Helvetica World"/>
              <a:ea typeface="Helvetica World"/>
              <a:cs typeface="Helvetica World"/>
              <a:sym typeface="Helvetica World"/>
            </a:endParaRPr>
          </a:p>
        </p:txBody>
      </p:sp>
      <p:sp>
        <p:nvSpPr>
          <p:cNvPr id="12" name="TextBox 12"/>
          <p:cNvSpPr txBox="1"/>
          <p:nvPr/>
        </p:nvSpPr>
        <p:spPr>
          <a:xfrm>
            <a:off x="10637962" y="9319198"/>
            <a:ext cx="6621338" cy="1194471"/>
          </a:xfrm>
          <a:prstGeom prst="rect">
            <a:avLst/>
          </a:prstGeom>
        </p:spPr>
        <p:txBody>
          <a:bodyPr lIns="0" tIns="0" rIns="0" bIns="0" rtlCol="0" anchor="t">
            <a:spAutoFit/>
          </a:bodyPr>
          <a:lstStyle/>
          <a:p>
            <a:pPr algn="ctr">
              <a:lnSpc>
                <a:spcPts val="1959"/>
              </a:lnSpc>
              <a:spcBef>
                <a:spcPct val="0"/>
              </a:spcBef>
            </a:pPr>
            <a:r>
              <a:rPr lang="en-US" sz="1399">
                <a:solidFill>
                  <a:srgbClr val="141412"/>
                </a:solidFill>
                <a:latin typeface="Helvetica World"/>
                <a:ea typeface="Helvetica World"/>
                <a:cs typeface="Helvetica World"/>
                <a:sym typeface="Helvetica World"/>
              </a:rPr>
              <a:t>Top aggregate families: groceries &amp; food with 219,287 purchases</a:t>
            </a:r>
          </a:p>
          <a:p>
            <a:pPr algn="ctr">
              <a:lnSpc>
                <a:spcPts val="1959"/>
              </a:lnSpc>
              <a:spcBef>
                <a:spcPct val="0"/>
              </a:spcBef>
            </a:pPr>
            <a:r>
              <a:rPr lang="en-US" sz="1399">
                <a:solidFill>
                  <a:srgbClr val="141412"/>
                </a:solidFill>
                <a:latin typeface="Helvetica World"/>
                <a:ea typeface="Helvetica World"/>
                <a:cs typeface="Helvetica World"/>
                <a:sym typeface="Helvetica World"/>
              </a:rPr>
              <a:t>Top categories in Other / Misc with purchases:</a:t>
            </a:r>
          </a:p>
          <a:p>
            <a:pPr algn="ctr">
              <a:lnSpc>
                <a:spcPts val="1959"/>
              </a:lnSpc>
              <a:spcBef>
                <a:spcPct val="0"/>
              </a:spcBef>
            </a:pPr>
            <a:r>
              <a:rPr lang="en-US" sz="1399">
                <a:solidFill>
                  <a:srgbClr val="141412"/>
                </a:solidFill>
                <a:latin typeface="Helvetica World"/>
                <a:ea typeface="Helvetica World"/>
                <a:cs typeface="Helvetica World"/>
                <a:sym typeface="Helvetica World"/>
              </a:rPr>
              <a:t>electronic_cable -18268, physical_movie -6920, shorts -6274</a:t>
            </a:r>
          </a:p>
          <a:p>
            <a:pPr algn="ctr">
              <a:lnSpc>
                <a:spcPts val="1819"/>
              </a:lnSpc>
              <a:spcBef>
                <a:spcPct val="0"/>
              </a:spcBef>
            </a:pPr>
            <a:endParaRPr lang="en-US" sz="1399">
              <a:solidFill>
                <a:srgbClr val="141412"/>
              </a:solidFill>
              <a:latin typeface="Helvetica World"/>
              <a:ea typeface="Helvetica World"/>
              <a:cs typeface="Helvetica World"/>
              <a:sym typeface="Helvetica World"/>
            </a:endParaRPr>
          </a:p>
          <a:p>
            <a:pPr algn="ctr">
              <a:lnSpc>
                <a:spcPts val="1819"/>
              </a:lnSpc>
              <a:spcBef>
                <a:spcPct val="0"/>
              </a:spcBef>
            </a:pPr>
            <a:endParaRPr lang="en-US" sz="1399">
              <a:solidFill>
                <a:srgbClr val="141412"/>
              </a:solidFill>
              <a:latin typeface="Helvetica World"/>
              <a:ea typeface="Helvetica World"/>
              <a:cs typeface="Helvetica World"/>
              <a:sym typeface="Helvetica Wor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2498334" y="1845819"/>
            <a:ext cx="13291331" cy="6595362"/>
          </a:xfrm>
          <a:custGeom>
            <a:avLst/>
            <a:gdLst/>
            <a:ahLst/>
            <a:cxnLst/>
            <a:rect l="l" t="t" r="r" b="b"/>
            <a:pathLst>
              <a:path w="13291331" h="6595362">
                <a:moveTo>
                  <a:pt x="0" y="0"/>
                </a:moveTo>
                <a:lnTo>
                  <a:pt x="13291332" y="0"/>
                </a:lnTo>
                <a:lnTo>
                  <a:pt x="13291332" y="6595362"/>
                </a:lnTo>
                <a:lnTo>
                  <a:pt x="0" y="6595362"/>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7758077" y="269875"/>
            <a:ext cx="9501223" cy="301625"/>
            <a:chOff x="0" y="0"/>
            <a:chExt cx="12668297" cy="402167"/>
          </a:xfrm>
        </p:grpSpPr>
        <p:sp>
          <p:nvSpPr>
            <p:cNvPr id="4" name="TextBox 4"/>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5" name="TextBox 5"/>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6" name="TextBox 6"/>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REVENUE BY INCOME GROUP</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14</a:t>
            </a:r>
          </a:p>
        </p:txBody>
      </p:sp>
      <p:sp>
        <p:nvSpPr>
          <p:cNvPr id="8" name="TextBox 8"/>
          <p:cNvSpPr txBox="1"/>
          <p:nvPr/>
        </p:nvSpPr>
        <p:spPr>
          <a:xfrm>
            <a:off x="5241817" y="9026779"/>
            <a:ext cx="7804366" cy="736073"/>
          </a:xfrm>
          <a:prstGeom prst="rect">
            <a:avLst/>
          </a:prstGeom>
        </p:spPr>
        <p:txBody>
          <a:bodyPr lIns="0" tIns="0" rIns="0" bIns="0" rtlCol="0" anchor="t">
            <a:spAutoFit/>
          </a:bodyPr>
          <a:lstStyle/>
          <a:p>
            <a:pPr marL="0" lvl="0" indent="0" algn="ctr">
              <a:lnSpc>
                <a:spcPts val="1960"/>
              </a:lnSpc>
            </a:pPr>
            <a:r>
              <a:rPr lang="en-US" sz="1400">
                <a:solidFill>
                  <a:srgbClr val="141412"/>
                </a:solidFill>
                <a:latin typeface="Helvetica World"/>
                <a:ea typeface="Helvetica World"/>
                <a:cs typeface="Helvetica World"/>
                <a:sym typeface="Helvetica World"/>
              </a:rPr>
              <a:t>$100,000 to $149,999 income group generates the highest total revenue: $9.14M</a:t>
            </a:r>
          </a:p>
          <a:p>
            <a:pPr marL="0" lvl="0" indent="0" algn="ctr">
              <a:lnSpc>
                <a:spcPts val="1960"/>
              </a:lnSpc>
            </a:pPr>
            <a:r>
              <a:rPr lang="en-US" sz="1400">
                <a:solidFill>
                  <a:srgbClr val="141412"/>
                </a:solidFill>
                <a:latin typeface="Helvetica World"/>
                <a:ea typeface="Helvetica World"/>
                <a:cs typeface="Helvetica World"/>
                <a:sym typeface="Helvetica World"/>
              </a:rPr>
              <a:t>Next highest groups: $50k–$74,999 ($8.26M) and $25k–$49,999 ($7.34M)</a:t>
            </a:r>
          </a:p>
          <a:p>
            <a:pPr algn="ctr">
              <a:lnSpc>
                <a:spcPts val="1960"/>
              </a:lnSpc>
              <a:spcBef>
                <a:spcPct val="0"/>
              </a:spcBef>
            </a:pPr>
            <a:r>
              <a:rPr lang="en-US" sz="1400">
                <a:solidFill>
                  <a:srgbClr val="141412"/>
                </a:solidFill>
                <a:latin typeface="Helvetica World"/>
                <a:ea typeface="Helvetica World"/>
                <a:cs typeface="Helvetica World"/>
                <a:sym typeface="Helvetica World"/>
              </a:rPr>
              <a:t>Very-high-income group ($150k+) contributes less total revenue than the upper middle income group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2576661" y="1887424"/>
            <a:ext cx="13134678" cy="6512151"/>
          </a:xfrm>
          <a:custGeom>
            <a:avLst/>
            <a:gdLst/>
            <a:ahLst/>
            <a:cxnLst/>
            <a:rect l="l" t="t" r="r" b="b"/>
            <a:pathLst>
              <a:path w="13134678" h="6512151">
                <a:moveTo>
                  <a:pt x="0" y="0"/>
                </a:moveTo>
                <a:lnTo>
                  <a:pt x="13134678" y="0"/>
                </a:lnTo>
                <a:lnTo>
                  <a:pt x="13134678" y="6512152"/>
                </a:lnTo>
                <a:lnTo>
                  <a:pt x="0" y="6512152"/>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7758077" y="269875"/>
            <a:ext cx="9501223" cy="301625"/>
            <a:chOff x="0" y="0"/>
            <a:chExt cx="12668297" cy="402167"/>
          </a:xfrm>
        </p:grpSpPr>
        <p:sp>
          <p:nvSpPr>
            <p:cNvPr id="4" name="TextBox 4"/>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5" name="TextBox 5"/>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6" name="TextBox 6"/>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REVENUE BY AGE GROUP</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15</a:t>
            </a:r>
          </a:p>
        </p:txBody>
      </p:sp>
      <p:sp>
        <p:nvSpPr>
          <p:cNvPr id="8" name="TextBox 8"/>
          <p:cNvSpPr txBox="1"/>
          <p:nvPr/>
        </p:nvSpPr>
        <p:spPr>
          <a:xfrm>
            <a:off x="5472266" y="8902936"/>
            <a:ext cx="7494262" cy="983759"/>
          </a:xfrm>
          <a:prstGeom prst="rect">
            <a:avLst/>
          </a:prstGeom>
        </p:spPr>
        <p:txBody>
          <a:bodyPr lIns="0" tIns="0" rIns="0" bIns="0" rtlCol="0" anchor="t">
            <a:spAutoFit/>
          </a:bodyPr>
          <a:lstStyle/>
          <a:p>
            <a:pPr algn="ctr">
              <a:lnSpc>
                <a:spcPts val="1960"/>
              </a:lnSpc>
              <a:spcBef>
                <a:spcPct val="0"/>
              </a:spcBef>
            </a:pPr>
            <a:r>
              <a:rPr lang="en-US" sz="1400">
                <a:solidFill>
                  <a:srgbClr val="141412"/>
                </a:solidFill>
                <a:latin typeface="Helvetica World"/>
                <a:ea typeface="Helvetica World"/>
                <a:cs typeface="Helvetica World"/>
                <a:sym typeface="Helvetica World"/>
              </a:rPr>
              <a:t>Largest age segment by revenue: 25-34 years with total revenue ≈ $13 Million</a:t>
            </a:r>
          </a:p>
          <a:p>
            <a:pPr algn="ctr">
              <a:lnSpc>
                <a:spcPts val="1960"/>
              </a:lnSpc>
              <a:spcBef>
                <a:spcPct val="0"/>
              </a:spcBef>
            </a:pPr>
            <a:r>
              <a:rPr lang="en-US" sz="1400">
                <a:solidFill>
                  <a:srgbClr val="141412"/>
                </a:solidFill>
                <a:latin typeface="Helvetica World"/>
                <a:ea typeface="Helvetica World"/>
                <a:cs typeface="Helvetica World"/>
                <a:sym typeface="Helvetica World"/>
              </a:rPr>
              <a:t>Top two age groups 25–34 and 35–44 together account for most spending and most transactions</a:t>
            </a:r>
          </a:p>
          <a:p>
            <a:pPr algn="ctr">
              <a:lnSpc>
                <a:spcPts val="1960"/>
              </a:lnSpc>
              <a:spcBef>
                <a:spcPct val="0"/>
              </a:spcBef>
            </a:pPr>
            <a:r>
              <a:rPr lang="en-US" sz="1400">
                <a:solidFill>
                  <a:srgbClr val="141412"/>
                </a:solidFill>
                <a:latin typeface="Helvetica World"/>
                <a:ea typeface="Helvetica World"/>
                <a:cs typeface="Helvetica World"/>
                <a:sym typeface="Helvetica World"/>
              </a:rPr>
              <a:t>Older and younger groups spend less overall, consistent with fewer purchases</a:t>
            </a:r>
          </a:p>
          <a:p>
            <a:pPr algn="ctr">
              <a:lnSpc>
                <a:spcPts val="1960"/>
              </a:lnSpc>
              <a:spcBef>
                <a:spcPct val="0"/>
              </a:spcBef>
            </a:pPr>
            <a:endParaRPr lang="en-US" sz="1400">
              <a:solidFill>
                <a:srgbClr val="141412"/>
              </a:solidFill>
              <a:latin typeface="Helvetica World"/>
              <a:ea typeface="Helvetica World"/>
              <a:cs typeface="Helvetica World"/>
              <a:sym typeface="Helvetica Wor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2542870" y="1620792"/>
            <a:ext cx="12802534" cy="7637508"/>
          </a:xfrm>
          <a:custGeom>
            <a:avLst/>
            <a:gdLst/>
            <a:ahLst/>
            <a:cxnLst/>
            <a:rect l="l" t="t" r="r" b="b"/>
            <a:pathLst>
              <a:path w="12802534" h="7637508">
                <a:moveTo>
                  <a:pt x="0" y="0"/>
                </a:moveTo>
                <a:lnTo>
                  <a:pt x="12802534" y="0"/>
                </a:lnTo>
                <a:lnTo>
                  <a:pt x="12802534" y="7637508"/>
                </a:lnTo>
                <a:lnTo>
                  <a:pt x="0" y="7637508"/>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7758077" y="269875"/>
            <a:ext cx="9501223" cy="301625"/>
            <a:chOff x="0" y="0"/>
            <a:chExt cx="12668297" cy="402167"/>
          </a:xfrm>
        </p:grpSpPr>
        <p:sp>
          <p:nvSpPr>
            <p:cNvPr id="4" name="TextBox 4"/>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5" name="TextBox 5"/>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6" name="TextBox 6"/>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REVENUE BY STATE (TOP 10)</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16</a:t>
            </a:r>
          </a:p>
        </p:txBody>
      </p:sp>
      <p:sp>
        <p:nvSpPr>
          <p:cNvPr id="8" name="TextBox 8"/>
          <p:cNvSpPr txBox="1"/>
          <p:nvPr/>
        </p:nvSpPr>
        <p:spPr>
          <a:xfrm>
            <a:off x="5315591" y="9458325"/>
            <a:ext cx="7807613" cy="488387"/>
          </a:xfrm>
          <a:prstGeom prst="rect">
            <a:avLst/>
          </a:prstGeom>
        </p:spPr>
        <p:txBody>
          <a:bodyPr lIns="0" tIns="0" rIns="0" bIns="0" rtlCol="0" anchor="t">
            <a:spAutoFit/>
          </a:bodyPr>
          <a:lstStyle/>
          <a:p>
            <a:pPr algn="ctr">
              <a:lnSpc>
                <a:spcPts val="1960"/>
              </a:lnSpc>
            </a:pPr>
            <a:r>
              <a:rPr lang="en-US" sz="1400">
                <a:solidFill>
                  <a:srgbClr val="141412"/>
                </a:solidFill>
                <a:latin typeface="Helvetica World"/>
                <a:ea typeface="Helvetica World"/>
                <a:cs typeface="Helvetica World"/>
                <a:sym typeface="Helvetica World"/>
              </a:rPr>
              <a:t>California leads with $4.11M in revenue</a:t>
            </a:r>
          </a:p>
          <a:p>
            <a:pPr algn="ctr">
              <a:lnSpc>
                <a:spcPts val="1960"/>
              </a:lnSpc>
              <a:spcBef>
                <a:spcPct val="0"/>
              </a:spcBef>
            </a:pPr>
            <a:r>
              <a:rPr lang="en-US" sz="1400">
                <a:solidFill>
                  <a:srgbClr val="141412"/>
                </a:solidFill>
                <a:latin typeface="Helvetica World"/>
                <a:ea typeface="Helvetica World"/>
                <a:cs typeface="Helvetica World"/>
                <a:sym typeface="Helvetica World"/>
              </a:rPr>
              <a:t>Texas ($3.08M) and Florida ($2.53M) follow; top 5 states (CA, TX, FL, NY, PA) together exceed $14M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1028700" y="1696396"/>
            <a:ext cx="16230600" cy="6894207"/>
          </a:xfrm>
          <a:custGeom>
            <a:avLst/>
            <a:gdLst/>
            <a:ahLst/>
            <a:cxnLst/>
            <a:rect l="l" t="t" r="r" b="b"/>
            <a:pathLst>
              <a:path w="16230600" h="6894207">
                <a:moveTo>
                  <a:pt x="0" y="0"/>
                </a:moveTo>
                <a:lnTo>
                  <a:pt x="16230600" y="0"/>
                </a:lnTo>
                <a:lnTo>
                  <a:pt x="16230600" y="6894208"/>
                </a:lnTo>
                <a:lnTo>
                  <a:pt x="0" y="6894208"/>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7758077" y="269875"/>
            <a:ext cx="9501223" cy="301625"/>
            <a:chOff x="0" y="0"/>
            <a:chExt cx="12668297" cy="402167"/>
          </a:xfrm>
        </p:grpSpPr>
        <p:sp>
          <p:nvSpPr>
            <p:cNvPr id="4" name="TextBox 4"/>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5" name="TextBox 5"/>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6" name="TextBox 6"/>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TIME PATTERNS (MONTHLY TREND)</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17</a:t>
            </a:r>
          </a:p>
        </p:txBody>
      </p:sp>
      <p:sp>
        <p:nvSpPr>
          <p:cNvPr id="8" name="TextBox 8"/>
          <p:cNvSpPr txBox="1"/>
          <p:nvPr/>
        </p:nvSpPr>
        <p:spPr>
          <a:xfrm>
            <a:off x="5440065" y="9007421"/>
            <a:ext cx="7558664" cy="1066872"/>
          </a:xfrm>
          <a:prstGeom prst="rect">
            <a:avLst/>
          </a:prstGeom>
        </p:spPr>
        <p:txBody>
          <a:bodyPr lIns="0" tIns="0" rIns="0" bIns="0" rtlCol="0" anchor="t">
            <a:spAutoFit/>
          </a:bodyPr>
          <a:lstStyle/>
          <a:p>
            <a:pPr algn="ctr">
              <a:lnSpc>
                <a:spcPts val="2100"/>
              </a:lnSpc>
              <a:spcBef>
                <a:spcPct val="0"/>
              </a:spcBef>
            </a:pPr>
            <a:r>
              <a:rPr lang="en-US" sz="1500">
                <a:solidFill>
                  <a:srgbClr val="141412"/>
                </a:solidFill>
                <a:latin typeface="Helvetica World"/>
                <a:ea typeface="Helvetica World"/>
                <a:cs typeface="Helvetica World"/>
                <a:sym typeface="Helvetica World"/>
              </a:rPr>
              <a:t>Data spans from Jan 2018 to Aug 2024</a:t>
            </a:r>
          </a:p>
          <a:p>
            <a:pPr algn="ctr">
              <a:lnSpc>
                <a:spcPts val="2100"/>
              </a:lnSpc>
              <a:spcBef>
                <a:spcPct val="0"/>
              </a:spcBef>
            </a:pPr>
            <a:r>
              <a:rPr lang="en-US" sz="1500">
                <a:solidFill>
                  <a:srgbClr val="141412"/>
                </a:solidFill>
                <a:latin typeface="Helvetica World"/>
                <a:ea typeface="Helvetica World"/>
                <a:cs typeface="Helvetica World"/>
                <a:sym typeface="Helvetica World"/>
              </a:rPr>
              <a:t>Overall monthly revenue grows until around 2022, then shows a decline around 2023</a:t>
            </a:r>
          </a:p>
          <a:p>
            <a:pPr algn="ctr">
              <a:lnSpc>
                <a:spcPts val="2100"/>
              </a:lnSpc>
              <a:spcBef>
                <a:spcPct val="0"/>
              </a:spcBef>
            </a:pPr>
            <a:r>
              <a:rPr lang="en-US" sz="1500">
                <a:solidFill>
                  <a:srgbClr val="141412"/>
                </a:solidFill>
                <a:latin typeface="Helvetica World"/>
                <a:ea typeface="Helvetica World"/>
                <a:cs typeface="Helvetica World"/>
                <a:sym typeface="Helvetica World"/>
              </a:rPr>
              <a:t>Seasonal peaks likely around typical shopping seasons (end-of-year, mid-year promotions)</a:t>
            </a:r>
          </a:p>
          <a:p>
            <a:pPr algn="ctr">
              <a:lnSpc>
                <a:spcPts val="2100"/>
              </a:lnSpc>
              <a:spcBef>
                <a:spcPct val="0"/>
              </a:spcBef>
            </a:pPr>
            <a:endParaRPr lang="en-US" sz="1500">
              <a:solidFill>
                <a:srgbClr val="141412"/>
              </a:solidFill>
              <a:latin typeface="Helvetica World"/>
              <a:ea typeface="Helvetica World"/>
              <a:cs typeface="Helvetica World"/>
              <a:sym typeface="Helvetica Wor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p:cNvSpPr/>
          <p:nvPr/>
        </p:nvSpPr>
        <p:spPr>
          <a:xfrm>
            <a:off x="2229443" y="1717683"/>
            <a:ext cx="13829114" cy="6851634"/>
          </a:xfrm>
          <a:custGeom>
            <a:avLst/>
            <a:gdLst/>
            <a:ahLst/>
            <a:cxnLst/>
            <a:rect l="l" t="t" r="r" b="b"/>
            <a:pathLst>
              <a:path w="13829114" h="6851634">
                <a:moveTo>
                  <a:pt x="0" y="0"/>
                </a:moveTo>
                <a:lnTo>
                  <a:pt x="13829114" y="0"/>
                </a:lnTo>
                <a:lnTo>
                  <a:pt x="13829114" y="6851634"/>
                </a:lnTo>
                <a:lnTo>
                  <a:pt x="0" y="6851634"/>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7758077" y="269875"/>
            <a:ext cx="9501223" cy="301625"/>
            <a:chOff x="0" y="0"/>
            <a:chExt cx="12668297" cy="402167"/>
          </a:xfrm>
        </p:grpSpPr>
        <p:sp>
          <p:nvSpPr>
            <p:cNvPr id="4" name="TextBox 4"/>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5" name="TextBox 5"/>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6" name="TextBox 6"/>
          <p:cNvSpPr txBox="1"/>
          <p:nvPr/>
        </p:nvSpPr>
        <p:spPr>
          <a:xfrm>
            <a:off x="1179494" y="768851"/>
            <a:ext cx="16079806" cy="714373"/>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TIME PATTERNS (DAY OF WEEK)</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18</a:t>
            </a:r>
          </a:p>
        </p:txBody>
      </p:sp>
      <p:sp>
        <p:nvSpPr>
          <p:cNvPr id="8" name="TextBox 8"/>
          <p:cNvSpPr txBox="1"/>
          <p:nvPr/>
        </p:nvSpPr>
        <p:spPr>
          <a:xfrm>
            <a:off x="5737766" y="8856617"/>
            <a:ext cx="6963262" cy="1066872"/>
          </a:xfrm>
          <a:prstGeom prst="rect">
            <a:avLst/>
          </a:prstGeom>
        </p:spPr>
        <p:txBody>
          <a:bodyPr lIns="0" tIns="0" rIns="0" bIns="0" rtlCol="0" anchor="t">
            <a:spAutoFit/>
          </a:bodyPr>
          <a:lstStyle/>
          <a:p>
            <a:pPr algn="ctr">
              <a:lnSpc>
                <a:spcPts val="2100"/>
              </a:lnSpc>
              <a:spcBef>
                <a:spcPct val="0"/>
              </a:spcBef>
            </a:pPr>
            <a:r>
              <a:rPr lang="en-US" sz="1500">
                <a:solidFill>
                  <a:srgbClr val="141412"/>
                </a:solidFill>
                <a:latin typeface="Helvetica World"/>
                <a:ea typeface="Helvetica World"/>
                <a:cs typeface="Helvetica World"/>
                <a:sym typeface="Helvetica World"/>
              </a:rPr>
              <a:t>Highest revenue day: Mondays $6 million with consistent weekly demand peak.</a:t>
            </a:r>
          </a:p>
          <a:p>
            <a:pPr algn="ctr">
              <a:lnSpc>
                <a:spcPts val="2100"/>
              </a:lnSpc>
              <a:spcBef>
                <a:spcPct val="0"/>
              </a:spcBef>
            </a:pPr>
            <a:r>
              <a:rPr lang="en-US" sz="1500">
                <a:solidFill>
                  <a:srgbClr val="141412"/>
                </a:solidFill>
                <a:latin typeface="Helvetica World"/>
                <a:ea typeface="Helvetica World"/>
                <a:cs typeface="Helvetica World"/>
                <a:sym typeface="Helvetica World"/>
              </a:rPr>
              <a:t>Lowest revenue day: saturday with off-peak buying period</a:t>
            </a:r>
          </a:p>
          <a:p>
            <a:pPr algn="ctr">
              <a:lnSpc>
                <a:spcPts val="2100"/>
              </a:lnSpc>
              <a:spcBef>
                <a:spcPct val="0"/>
              </a:spcBef>
            </a:pPr>
            <a:r>
              <a:rPr lang="en-US" sz="1500">
                <a:solidFill>
                  <a:srgbClr val="141412"/>
                </a:solidFill>
                <a:latin typeface="Helvetica World"/>
                <a:ea typeface="Helvetica World"/>
                <a:cs typeface="Helvetica World"/>
                <a:sym typeface="Helvetica World"/>
              </a:rPr>
              <a:t>Useful for scheduling campaigns and staffing ; aim promotions at high-revenue days</a:t>
            </a:r>
          </a:p>
          <a:p>
            <a:pPr algn="ctr">
              <a:lnSpc>
                <a:spcPts val="2100"/>
              </a:lnSpc>
              <a:spcBef>
                <a:spcPct val="0"/>
              </a:spcBef>
            </a:pPr>
            <a:endParaRPr lang="en-US" sz="1500">
              <a:solidFill>
                <a:srgbClr val="141412"/>
              </a:solidFill>
              <a:latin typeface="Helvetica World"/>
              <a:ea typeface="Helvetica World"/>
              <a:cs typeface="Helvetica World"/>
              <a:sym typeface="Helvetica Wor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Freeform 2">
            <a:hlinkClick r:id="rId2" tooltip="https://colab.research.google.com/drive/1F-2cS2fcrxiW3bDrxodZBpf1l7Be7hM-#scrollTo=murZ6_L5NCCI&amp;fullscreenOutput=true"/>
          </p:cNvPr>
          <p:cNvSpPr/>
          <p:nvPr/>
        </p:nvSpPr>
        <p:spPr>
          <a:xfrm>
            <a:off x="2235502" y="1599070"/>
            <a:ext cx="13816996" cy="7810033"/>
          </a:xfrm>
          <a:custGeom>
            <a:avLst/>
            <a:gdLst/>
            <a:ahLst/>
            <a:cxnLst/>
            <a:rect l="l" t="t" r="r" b="b"/>
            <a:pathLst>
              <a:path w="13816996" h="7810033">
                <a:moveTo>
                  <a:pt x="0" y="0"/>
                </a:moveTo>
                <a:lnTo>
                  <a:pt x="13816996" y="0"/>
                </a:lnTo>
                <a:lnTo>
                  <a:pt x="13816996" y="7810033"/>
                </a:lnTo>
                <a:lnTo>
                  <a:pt x="0" y="7810033"/>
                </a:lnTo>
                <a:lnTo>
                  <a:pt x="0" y="0"/>
                </a:lnTo>
                <a:close/>
              </a:path>
            </a:pathLst>
          </a:custGeom>
          <a:blipFill>
            <a:blip r:embed="rId3"/>
            <a:stretch>
              <a:fillRect r="-663"/>
            </a:stretch>
          </a:blipFill>
        </p:spPr>
        <p:txBody>
          <a:bodyPr/>
          <a:lstStyle/>
          <a:p>
            <a:endParaRPr lang="en-IN"/>
          </a:p>
        </p:txBody>
      </p:sp>
      <p:grpSp>
        <p:nvGrpSpPr>
          <p:cNvPr id="3" name="Group 3"/>
          <p:cNvGrpSpPr/>
          <p:nvPr/>
        </p:nvGrpSpPr>
        <p:grpSpPr>
          <a:xfrm>
            <a:off x="7758077" y="269875"/>
            <a:ext cx="9501223" cy="301625"/>
            <a:chOff x="0" y="0"/>
            <a:chExt cx="12668297" cy="402167"/>
          </a:xfrm>
        </p:grpSpPr>
        <p:sp>
          <p:nvSpPr>
            <p:cNvPr id="4" name="TextBox 4"/>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5" name="TextBox 5"/>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6" name="TextBox 6"/>
          <p:cNvSpPr txBox="1"/>
          <p:nvPr/>
        </p:nvSpPr>
        <p:spPr>
          <a:xfrm>
            <a:off x="1028700" y="657226"/>
            <a:ext cx="16079806" cy="714374"/>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INTERACTIVE DASHBOARD</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grpSp>
        <p:nvGrpSpPr>
          <p:cNvPr id="2" name="Group 2"/>
          <p:cNvGrpSpPr/>
          <p:nvPr/>
        </p:nvGrpSpPr>
        <p:grpSpPr>
          <a:xfrm>
            <a:off x="7758077" y="269875"/>
            <a:ext cx="9501223" cy="301625"/>
            <a:chOff x="0" y="0"/>
            <a:chExt cx="12668297" cy="402167"/>
          </a:xfrm>
        </p:grpSpPr>
        <p:sp>
          <p:nvSpPr>
            <p:cNvPr id="3" name="TextBox 3"/>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4" name="TextBox 4"/>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5" name="TextBox 5"/>
          <p:cNvSpPr txBox="1"/>
          <p:nvPr/>
        </p:nvSpPr>
        <p:spPr>
          <a:xfrm>
            <a:off x="1179494" y="768851"/>
            <a:ext cx="16079806" cy="714374"/>
          </a:xfrm>
          <a:prstGeom prst="rect">
            <a:avLst/>
          </a:prstGeom>
        </p:spPr>
        <p:txBody>
          <a:bodyPr lIns="0" tIns="0" rIns="0" bIns="0" rtlCol="0" anchor="t">
            <a:spAutoFit/>
          </a:bodyPr>
          <a:lstStyle/>
          <a:p>
            <a:pPr marL="0" lvl="0" indent="0" algn="l">
              <a:lnSpc>
                <a:spcPts val="5625"/>
              </a:lnSpc>
              <a:spcBef>
                <a:spcPct val="0"/>
              </a:spcBef>
            </a:pPr>
            <a:r>
              <a:rPr lang="en-US" sz="4500">
                <a:solidFill>
                  <a:srgbClr val="141412"/>
                </a:solidFill>
                <a:latin typeface="Monument Bold"/>
                <a:ea typeface="Monument Bold"/>
                <a:cs typeface="Monument Bold"/>
                <a:sym typeface="Monument Bold"/>
              </a:rPr>
              <a:t>CONCLUSION - BUSINESS INSIGHTS</a:t>
            </a:r>
          </a:p>
        </p:txBody>
      </p:sp>
      <p:sp>
        <p:nvSpPr>
          <p:cNvPr id="6" name="TextBox 6"/>
          <p:cNvSpPr txBox="1"/>
          <p:nvPr/>
        </p:nvSpPr>
        <p:spPr>
          <a:xfrm>
            <a:off x="514350" y="1917566"/>
            <a:ext cx="17773650" cy="5981538"/>
          </a:xfrm>
          <a:prstGeom prst="rect">
            <a:avLst/>
          </a:prstGeom>
        </p:spPr>
        <p:txBody>
          <a:bodyPr lIns="0" tIns="0" rIns="0" bIns="0" rtlCol="0" anchor="t">
            <a:spAutoFit/>
          </a:bodyPr>
          <a:lstStyle/>
          <a:p>
            <a:pPr marL="730044" lvl="1" indent="-365022" algn="l">
              <a:lnSpc>
                <a:spcPts val="4733"/>
              </a:lnSpc>
              <a:buFont typeface="Arial"/>
              <a:buChar char="•"/>
            </a:pPr>
            <a:r>
              <a:rPr lang="en-US" sz="3381" b="1">
                <a:solidFill>
                  <a:srgbClr val="141412"/>
                </a:solidFill>
                <a:latin typeface="Canva Sans Bold"/>
                <a:ea typeface="Canva Sans Bold"/>
                <a:cs typeface="Canva Sans Bold"/>
                <a:sym typeface="Canva Sans Bold"/>
              </a:rPr>
              <a:t>Revenue is highly concentrated: </a:t>
            </a:r>
            <a:r>
              <a:rPr lang="en-US" sz="3381">
                <a:solidFill>
                  <a:srgbClr val="141412"/>
                </a:solidFill>
                <a:latin typeface="Canva Sans"/>
                <a:ea typeface="Canva Sans"/>
                <a:cs typeface="Canva Sans"/>
                <a:sym typeface="Canva Sans"/>
              </a:rPr>
              <a:t>many purchases are low value, while a small number of orders contribute disproportionately to total revenue.</a:t>
            </a:r>
          </a:p>
          <a:p>
            <a:pPr marL="730044" lvl="1" indent="-365022" algn="l">
              <a:lnSpc>
                <a:spcPts val="4733"/>
              </a:lnSpc>
              <a:buFont typeface="Arial"/>
              <a:buChar char="•"/>
            </a:pPr>
            <a:r>
              <a:rPr lang="en-US" sz="3381" b="1">
                <a:solidFill>
                  <a:srgbClr val="141412"/>
                </a:solidFill>
                <a:latin typeface="Canva Sans Bold"/>
                <a:ea typeface="Canva Sans Bold"/>
                <a:cs typeface="Canva Sans Bold"/>
                <a:sym typeface="Canva Sans Bold"/>
              </a:rPr>
              <a:t>Product demand is not evenly spread across categories: </a:t>
            </a:r>
            <a:r>
              <a:rPr lang="en-US" sz="3381">
                <a:solidFill>
                  <a:srgbClr val="141412"/>
                </a:solidFill>
                <a:latin typeface="Canva Sans"/>
                <a:ea typeface="Canva Sans"/>
                <a:cs typeface="Canva Sans"/>
                <a:sym typeface="Canva Sans"/>
              </a:rPr>
              <a:t>groceries and food stand out strongly in the aggregated view, while books are highly visible in the detailed labels. </a:t>
            </a:r>
          </a:p>
          <a:p>
            <a:pPr marL="730044" lvl="1" indent="-365022" algn="l">
              <a:lnSpc>
                <a:spcPts val="4733"/>
              </a:lnSpc>
              <a:buFont typeface="Arial"/>
              <a:buChar char="•"/>
            </a:pPr>
            <a:r>
              <a:rPr lang="en-US" sz="3381" b="1">
                <a:solidFill>
                  <a:srgbClr val="141412"/>
                </a:solidFill>
                <a:latin typeface="Canva Sans Bold"/>
                <a:ea typeface="Canva Sans Bold"/>
                <a:cs typeface="Canva Sans Bold"/>
                <a:sym typeface="Canva Sans Bold"/>
              </a:rPr>
              <a:t>High-value customers </a:t>
            </a:r>
            <a:r>
              <a:rPr lang="en-US" sz="3381">
                <a:solidFill>
                  <a:srgbClr val="141412"/>
                </a:solidFill>
                <a:latin typeface="Canva Sans"/>
                <a:ea typeface="Canva Sans"/>
                <a:cs typeface="Canva Sans"/>
                <a:sym typeface="Canva Sans"/>
              </a:rPr>
              <a:t>are associated with specific demographic segments, especially the income bracket around $100,000–$149,999 and the age group 25–34. </a:t>
            </a:r>
          </a:p>
          <a:p>
            <a:pPr marL="730044" lvl="1" indent="-365022" algn="l">
              <a:lnSpc>
                <a:spcPts val="4733"/>
              </a:lnSpc>
              <a:buFont typeface="Arial"/>
              <a:buChar char="•"/>
            </a:pPr>
            <a:r>
              <a:rPr lang="en-US" sz="3381" b="1">
                <a:solidFill>
                  <a:srgbClr val="141412"/>
                </a:solidFill>
                <a:latin typeface="Canva Sans Bold"/>
                <a:ea typeface="Canva Sans Bold"/>
                <a:cs typeface="Canva Sans Bold"/>
                <a:sym typeface="Canva Sans Bold"/>
              </a:rPr>
              <a:t>Geographic demand differs across states,</a:t>
            </a:r>
            <a:r>
              <a:rPr lang="en-US" sz="3381">
                <a:solidFill>
                  <a:srgbClr val="141412"/>
                </a:solidFill>
                <a:latin typeface="Canva Sans"/>
                <a:ea typeface="Canva Sans"/>
                <a:cs typeface="Canva Sans"/>
                <a:sym typeface="Canva Sans"/>
              </a:rPr>
              <a:t> with California appearing as the strongest contributor in the current dataset.</a:t>
            </a:r>
            <a:r>
              <a:rPr lang="en-US" sz="3381" b="1">
                <a:solidFill>
                  <a:srgbClr val="141412"/>
                </a:solidFill>
                <a:latin typeface="Canva Sans Bold"/>
                <a:ea typeface="Canva Sans Bold"/>
                <a:cs typeface="Canva Sans Bold"/>
                <a:sym typeface="Canva Sans Bold"/>
              </a:rPr>
              <a:t> </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3F8"/>
        </a:solidFill>
        <a:effectLst/>
      </p:bgPr>
    </p:bg>
    <p:spTree>
      <p:nvGrpSpPr>
        <p:cNvPr id="1" name=""/>
        <p:cNvGrpSpPr/>
        <p:nvPr/>
      </p:nvGrpSpPr>
      <p:grpSpPr>
        <a:xfrm>
          <a:off x="0" y="0"/>
          <a:ext cx="0" cy="0"/>
          <a:chOff x="0" y="0"/>
          <a:chExt cx="0" cy="0"/>
        </a:xfrm>
      </p:grpSpPr>
      <p:sp>
        <p:nvSpPr>
          <p:cNvPr id="2" name="TextBox 2"/>
          <p:cNvSpPr txBox="1"/>
          <p:nvPr/>
        </p:nvSpPr>
        <p:spPr>
          <a:xfrm>
            <a:off x="3760329" y="3686547"/>
            <a:ext cx="10767343" cy="1574803"/>
          </a:xfrm>
          <a:prstGeom prst="rect">
            <a:avLst/>
          </a:prstGeom>
        </p:spPr>
        <p:txBody>
          <a:bodyPr lIns="0" tIns="0" rIns="0" bIns="0" rtlCol="0" anchor="t">
            <a:spAutoFit/>
          </a:bodyPr>
          <a:lstStyle/>
          <a:p>
            <a:pPr marL="0" lvl="0" indent="0" algn="l">
              <a:lnSpc>
                <a:spcPts val="12499"/>
              </a:lnSpc>
              <a:spcBef>
                <a:spcPct val="0"/>
              </a:spcBef>
            </a:pPr>
            <a:r>
              <a:rPr lang="en-US" sz="9999">
                <a:solidFill>
                  <a:srgbClr val="141412"/>
                </a:solidFill>
                <a:latin typeface="Monument Bold"/>
                <a:ea typeface="Monument Bold"/>
                <a:cs typeface="Monument Bold"/>
                <a:sym typeface="Monument Bold"/>
              </a:rPr>
              <a:t>QUESTIONS?</a:t>
            </a:r>
          </a:p>
        </p:txBody>
      </p:sp>
      <p:grpSp>
        <p:nvGrpSpPr>
          <p:cNvPr id="12" name="Group 12"/>
          <p:cNvGrpSpPr/>
          <p:nvPr/>
        </p:nvGrpSpPr>
        <p:grpSpPr>
          <a:xfrm>
            <a:off x="7758077" y="269875"/>
            <a:ext cx="9501223" cy="301625"/>
            <a:chOff x="0" y="0"/>
            <a:chExt cx="12668297" cy="402167"/>
          </a:xfrm>
        </p:grpSpPr>
        <p:sp>
          <p:nvSpPr>
            <p:cNvPr id="13" name="TextBox 13"/>
            <p:cNvSpPr txBox="1"/>
            <p:nvPr/>
          </p:nvSpPr>
          <p:spPr>
            <a:xfrm>
              <a:off x="7717014" y="-28575"/>
              <a:ext cx="4951283" cy="430742"/>
            </a:xfrm>
            <a:prstGeom prst="rect">
              <a:avLst/>
            </a:prstGeom>
          </p:spPr>
          <p:txBody>
            <a:bodyPr lIns="0" tIns="0" rIns="0" bIns="0" rtlCol="0" anchor="t">
              <a:spAutoFit/>
            </a:bodyPr>
            <a:lstStyle/>
            <a:p>
              <a:pPr algn="r">
                <a:lnSpc>
                  <a:spcPts val="2799"/>
                </a:lnSpc>
              </a:pPr>
              <a:r>
                <a:rPr lang="en-US" sz="1999">
                  <a:solidFill>
                    <a:srgbClr val="141412"/>
                  </a:solidFill>
                  <a:latin typeface="Helvetica World"/>
                  <a:ea typeface="Helvetica World"/>
                  <a:cs typeface="Helvetica World"/>
                  <a:sym typeface="Helvetica World"/>
                </a:rPr>
                <a:t>17 JULY 2026</a:t>
              </a:r>
            </a:p>
          </p:txBody>
        </p:sp>
        <p:sp>
          <p:nvSpPr>
            <p:cNvPr id="14" name="TextBox 14"/>
            <p:cNvSpPr txBox="1"/>
            <p:nvPr/>
          </p:nvSpPr>
          <p:spPr>
            <a:xfrm>
              <a:off x="0" y="-28575"/>
              <a:ext cx="3695794" cy="430742"/>
            </a:xfrm>
            <a:prstGeom prst="rect">
              <a:avLst/>
            </a:prstGeom>
          </p:spPr>
          <p:txBody>
            <a:bodyPr lIns="0" tIns="0" rIns="0" bIns="0" rtlCol="0" anchor="t">
              <a:spAutoFit/>
            </a:bodyPr>
            <a:lstStyle/>
            <a:p>
              <a:pPr algn="l">
                <a:lnSpc>
                  <a:spcPts val="2799"/>
                </a:lnSpc>
              </a:pPr>
              <a:r>
                <a:rPr lang="en-US" sz="1999">
                  <a:solidFill>
                    <a:srgbClr val="141412"/>
                  </a:solidFill>
                  <a:latin typeface="Helvetica World"/>
                  <a:ea typeface="Helvetica World"/>
                  <a:cs typeface="Helvetica World"/>
                  <a:sym typeface="Helvetica World"/>
                </a:rPr>
                <a:t>BUSINESS ANALYTICS</a:t>
              </a:r>
            </a:p>
          </p:txBody>
        </p:sp>
      </p:grpSp>
      <p:sp>
        <p:nvSpPr>
          <p:cNvPr id="15" name="TextBox 1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41412"/>
                </a:solidFill>
                <a:latin typeface="Canva Sans"/>
                <a:ea typeface="Canva Sans"/>
                <a:cs typeface="Canva Sans"/>
                <a:sym typeface="Canva Sans"/>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1139</Words>
  <Application>Microsoft Office PowerPoint</Application>
  <PresentationFormat>Custom</PresentationFormat>
  <Paragraphs>235</Paragraphs>
  <Slides>21</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League Spartan</vt:lpstr>
      <vt:lpstr>Monument Bold</vt:lpstr>
      <vt:lpstr>Calibri</vt:lpstr>
      <vt:lpstr>Canva Sans</vt:lpstr>
      <vt:lpstr>Helvetica World Bold</vt:lpstr>
      <vt:lpstr>Helvetica World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 - Project Presentation</dc:title>
  <dc:creator>Bhanu Agarwal</dc:creator>
  <cp:lastModifiedBy>Agarwal, Bhanu</cp:lastModifiedBy>
  <cp:revision>2</cp:revision>
  <dcterms:created xsi:type="dcterms:W3CDTF">2006-08-16T00:00:00Z</dcterms:created>
  <dcterms:modified xsi:type="dcterms:W3CDTF">2026-07-25T13:20:40Z</dcterms:modified>
  <dc:identifier>DAHO7N5dQV8</dc:identifier>
</cp:coreProperties>
</file>